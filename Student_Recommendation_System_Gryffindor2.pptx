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ight Triangle 2"/>
          <p:cNvSpPr/>
          <p:nvPr/>
        </p:nvSpPr>
        <p:spPr>
          <a:xfrm>
            <a:off x="7772400" y="0"/>
            <a:ext cx="4416552" cy="6858000"/>
          </a:xfrm>
          <a:prstGeom prst="rtTriangle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22960" y="3246120"/>
            <a:ext cx="914400" cy="73152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914400"/>
            <a:ext cx="7315200" cy="251351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300" b="1" dirty="0">
                <a:solidFill>
                  <a:srgbClr val="F4B400"/>
                </a:solidFill>
                <a:latin typeface="Calibri"/>
              </a:rPr>
              <a:t>ACADEMIC MINI PROJECT  •  202</a:t>
            </a:r>
            <a:r>
              <a:rPr lang="en-GB" sz="1300" b="1" dirty="0">
                <a:solidFill>
                  <a:srgbClr val="F4B400"/>
                </a:solidFill>
                <a:latin typeface="Calibri"/>
              </a:rPr>
              <a:t>6</a:t>
            </a:r>
            <a:r>
              <a:rPr sz="1300" b="1" dirty="0">
                <a:solidFill>
                  <a:srgbClr val="F4B400"/>
                </a:solidFill>
                <a:latin typeface="Calibri"/>
              </a:rPr>
              <a:t> – 202</a:t>
            </a:r>
            <a:r>
              <a:rPr lang="en-GB" sz="1300" b="1" dirty="0">
                <a:solidFill>
                  <a:srgbClr val="F4B400"/>
                </a:solidFill>
                <a:latin typeface="Calibri"/>
              </a:rPr>
              <a:t>7</a:t>
            </a:r>
            <a:endParaRPr sz="1300" b="1" dirty="0">
              <a:solidFill>
                <a:srgbClr val="F4B400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9601200" cy="171329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lang="en-US" sz="5400" b="1" dirty="0" err="1">
                <a:solidFill>
                  <a:srgbClr val="FFFFFF"/>
                </a:solidFill>
                <a:latin typeface="Calibri"/>
              </a:rPr>
              <a:t>SmartSelections</a:t>
            </a:r>
            <a:r>
              <a:rPr lang="en-US" sz="5400" b="1" dirty="0">
                <a:solidFill>
                  <a:srgbClr val="FFFFFF"/>
                </a:solidFill>
                <a:latin typeface="Calibri"/>
              </a:rPr>
              <a:t> &amp; </a:t>
            </a:r>
          </a:p>
          <a:p>
            <a:pPr algn="l"/>
            <a:r>
              <a:rPr lang="en-US" sz="5400" b="1" dirty="0">
                <a:solidFill>
                  <a:srgbClr val="FFFFFF"/>
                </a:solidFill>
                <a:latin typeface="Calibri"/>
              </a:rPr>
              <a:t>Performance </a:t>
            </a:r>
            <a:r>
              <a:rPr lang="en-US" sz="5400" b="1" dirty="0" err="1">
                <a:solidFill>
                  <a:srgbClr val="FFFFFF"/>
                </a:solidFill>
                <a:latin typeface="Calibri"/>
              </a:rPr>
              <a:t>Analyser</a:t>
            </a:r>
            <a:endParaRPr sz="54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3429000"/>
            <a:ext cx="914400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2400" b="0">
                <a:solidFill>
                  <a:srgbClr val="CFE0FF"/>
                </a:solidFill>
                <a:latin typeface="Calibri"/>
              </a:rPr>
              <a:t>Using Intelligent Keyword 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160520"/>
            <a:ext cx="91440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600" b="0">
                <a:solidFill>
                  <a:srgbClr val="E8F1FF"/>
                </a:solidFill>
                <a:latin typeface="Calibri"/>
              </a:rPr>
              <a:t>“ Select the right student for the right opportunity. 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5120640"/>
            <a:ext cx="310896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5120640"/>
            <a:ext cx="3108960" cy="6400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300" b="1">
                <a:solidFill>
                  <a:srgbClr val="0B3D91"/>
                </a:solidFill>
                <a:latin typeface="Calibri"/>
              </a:rPr>
              <a:t>PRESENTED BY  •  TEAM GRYFFINDOR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F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6534279"/>
            <a:ext cx="10058400" cy="23596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200" b="0" dirty="0">
                <a:solidFill>
                  <a:srgbClr val="CFE0FF"/>
                </a:solidFill>
                <a:latin typeface="Calibri"/>
              </a:rPr>
              <a:t>Department of AI &amp; DS    |    Academic Year 202</a:t>
            </a:r>
            <a:r>
              <a:rPr lang="en-GB" sz="1200" b="0" dirty="0">
                <a:solidFill>
                  <a:srgbClr val="CFE0FF"/>
                </a:solidFill>
                <a:latin typeface="Calibri"/>
              </a:rPr>
              <a:t>6</a:t>
            </a:r>
            <a:r>
              <a:rPr sz="1200" b="0" dirty="0">
                <a:solidFill>
                  <a:srgbClr val="CFE0FF"/>
                </a:solidFill>
                <a:latin typeface="Calibri"/>
              </a:rPr>
              <a:t>-202</a:t>
            </a:r>
            <a:r>
              <a:rPr lang="en-GB" sz="1200" b="0" dirty="0">
                <a:solidFill>
                  <a:srgbClr val="CFE0FF"/>
                </a:solidFill>
                <a:latin typeface="Calibri"/>
              </a:rPr>
              <a:t>7</a:t>
            </a:r>
            <a:endParaRPr sz="1200" b="0" dirty="0">
              <a:solidFill>
                <a:srgbClr val="CFE0FF"/>
              </a:solidFill>
              <a:latin typeface="Calibr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22959" y="3241548"/>
            <a:ext cx="10997031" cy="128016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64592" cy="6693408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9601200" cy="5943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3000" b="1">
                <a:solidFill>
                  <a:srgbClr val="0B3D91"/>
                </a:solidFill>
                <a:latin typeface="Calibri"/>
              </a:rPr>
              <a:t>Meet The Team</a:t>
            </a:r>
          </a:p>
        </p:txBody>
      </p:sp>
      <p:sp>
        <p:nvSpPr>
          <p:cNvPr id="5" name="Rectangle 4"/>
          <p:cNvSpPr/>
          <p:nvPr/>
        </p:nvSpPr>
        <p:spPr>
          <a:xfrm flipV="1">
            <a:off x="164592" y="886968"/>
            <a:ext cx="11356848" cy="62704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5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609104"/>
            <a:ext cx="7315200" cy="205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r>
              <a:rPr sz="1000" b="0" dirty="0">
                <a:solidFill>
                  <a:srgbClr val="556677"/>
                </a:solidFill>
                <a:latin typeface="Calibri"/>
              </a:rPr>
              <a:t>Team Gryffindor  •  </a:t>
            </a:r>
            <a:r>
              <a:rPr lang="en-IN" sz="1000" dirty="0">
                <a:solidFill>
                  <a:srgbClr val="556677"/>
                </a:solidFill>
              </a:rPr>
              <a:t> </a:t>
            </a:r>
            <a:r>
              <a:rPr lang="en-IN" sz="1000" dirty="0" err="1">
                <a:solidFill>
                  <a:srgbClr val="556677"/>
                </a:solidFill>
              </a:rPr>
              <a:t>SmartSelection</a:t>
            </a:r>
            <a:r>
              <a:rPr lang="en-IN" sz="1000" dirty="0">
                <a:solidFill>
                  <a:srgbClr val="556677"/>
                </a:solidFill>
              </a:rPr>
              <a:t> &amp; Performance Analyser</a:t>
            </a:r>
            <a:endParaRPr sz="1000" b="0" dirty="0">
              <a:solidFill>
                <a:srgbClr val="556677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820095" y="6565392"/>
            <a:ext cx="914400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000" b="0">
                <a:solidFill>
                  <a:srgbClr val="556677"/>
                </a:solidFill>
                <a:latin typeface="Calibri"/>
              </a:rPr>
              <a:t>2 / 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576231"/>
            <a:ext cx="10972800" cy="42062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2400" b="1" dirty="0">
                <a:solidFill>
                  <a:srgbClr val="0B3D91"/>
                </a:solidFill>
                <a:latin typeface="Calibri"/>
              </a:rPr>
              <a:t>We are Gryffindor — a team driven by curiosity, courage, and code.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5449" y="2296315"/>
            <a:ext cx="10972800" cy="7899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2400" b="0" dirty="0">
                <a:solidFill>
                  <a:srgbClr val="556677"/>
                </a:solidFill>
                <a:latin typeface="Calibri"/>
              </a:rPr>
              <a:t>Our mission is to build intelligent systems that empower educators</a:t>
            </a:r>
          </a:p>
          <a:p>
            <a:pPr algn="l"/>
            <a:r>
              <a:rPr sz="2400" b="0" dirty="0">
                <a:solidFill>
                  <a:srgbClr val="556677"/>
                </a:solidFill>
                <a:latin typeface="Calibri"/>
              </a:rPr>
              <a:t>to </a:t>
            </a:r>
            <a:r>
              <a:rPr sz="2400" b="0" dirty="0" err="1">
                <a:solidFill>
                  <a:srgbClr val="556677"/>
                </a:solidFill>
                <a:latin typeface="Calibri"/>
              </a:rPr>
              <a:t>recognise</a:t>
            </a:r>
            <a:r>
              <a:rPr sz="2400" b="0" dirty="0">
                <a:solidFill>
                  <a:srgbClr val="556677"/>
                </a:solidFill>
                <a:latin typeface="Calibri"/>
              </a:rPr>
              <a:t> potential and unlock opportunities for every student.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668964" y="3657600"/>
            <a:ext cx="260604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668964" y="3657600"/>
            <a:ext cx="2606040" cy="45720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3469064" y="3840480"/>
            <a:ext cx="1005840" cy="1005840"/>
          </a:xfrm>
          <a:prstGeom prst="ellipse">
            <a:avLst/>
          </a:prstGeom>
          <a:solidFill>
            <a:srgbClr val="1E88E5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668964" y="4148028"/>
            <a:ext cx="2606040" cy="482183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2800" b="1" dirty="0">
                <a:solidFill>
                  <a:srgbClr val="FFFFFF"/>
                </a:solidFill>
                <a:latin typeface="Calibri"/>
              </a:rPr>
              <a:t>0</a:t>
            </a:r>
            <a:r>
              <a:rPr lang="en-US" sz="2800" b="1" dirty="0">
                <a:solidFill>
                  <a:srgbClr val="FFFFFF"/>
                </a:solidFill>
                <a:latin typeface="Calibri"/>
              </a:rPr>
              <a:t>1</a:t>
            </a:r>
            <a:endParaRPr sz="28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668964" y="4983480"/>
            <a:ext cx="2606040" cy="297517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lang="en-US" sz="1600" b="1" dirty="0">
                <a:solidFill>
                  <a:srgbClr val="0B3D91"/>
                </a:solidFill>
                <a:latin typeface="Calibri"/>
              </a:rPr>
              <a:t>Mohamed </a:t>
            </a:r>
            <a:r>
              <a:rPr lang="en-US" sz="1600" b="1" dirty="0" err="1">
                <a:solidFill>
                  <a:srgbClr val="0B3D91"/>
                </a:solidFill>
                <a:latin typeface="Calibri"/>
              </a:rPr>
              <a:t>Irban</a:t>
            </a:r>
            <a:r>
              <a:rPr lang="en-US" sz="1600" b="1" dirty="0">
                <a:solidFill>
                  <a:srgbClr val="0B3D91"/>
                </a:solidFill>
                <a:latin typeface="Calibri"/>
              </a:rPr>
              <a:t> S</a:t>
            </a:r>
            <a:endParaRPr sz="1600" b="1" dirty="0">
              <a:solidFill>
                <a:srgbClr val="0B3D91"/>
              </a:solidFill>
              <a:latin typeface="Calibri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668964" y="5321808"/>
            <a:ext cx="2606040" cy="235962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lang="en-US" sz="1200" b="1" dirty="0">
                <a:solidFill>
                  <a:srgbClr val="F4B400"/>
                </a:solidFill>
                <a:latin typeface="Calibri"/>
              </a:rPr>
              <a:t>Team Lead</a:t>
            </a:r>
            <a:endParaRPr sz="1200" b="1" dirty="0">
              <a:solidFill>
                <a:srgbClr val="F4B400"/>
              </a:solidFill>
              <a:latin typeface="Calibri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5979000" y="3657600"/>
            <a:ext cx="260604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2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979000" y="3657600"/>
            <a:ext cx="2606040" cy="45720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6779100" y="3840480"/>
            <a:ext cx="1005840" cy="1005840"/>
          </a:xfrm>
          <a:prstGeom prst="ellipse">
            <a:avLst/>
          </a:prstGeom>
          <a:solidFill>
            <a:srgbClr val="1E88E5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979000" y="4148028"/>
            <a:ext cx="2606040" cy="482183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2800" b="1" dirty="0">
                <a:solidFill>
                  <a:srgbClr val="FFFFFF"/>
                </a:solidFill>
                <a:latin typeface="Calibri"/>
              </a:rPr>
              <a:t>0</a:t>
            </a:r>
            <a:r>
              <a:rPr lang="en-US" sz="2800" b="1" dirty="0">
                <a:solidFill>
                  <a:srgbClr val="FFFFFF"/>
                </a:solidFill>
                <a:latin typeface="Calibri"/>
              </a:rPr>
              <a:t>2</a:t>
            </a:r>
            <a:endParaRPr sz="28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979000" y="4983480"/>
            <a:ext cx="2606040" cy="297517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lang="en-US" sz="1600" b="1" dirty="0">
                <a:solidFill>
                  <a:srgbClr val="0B3D91"/>
                </a:solidFill>
                <a:latin typeface="Calibri"/>
              </a:rPr>
              <a:t>Jitendra VK</a:t>
            </a:r>
            <a:endParaRPr sz="1600" b="1" dirty="0">
              <a:solidFill>
                <a:srgbClr val="0B3D91"/>
              </a:solidFill>
              <a:latin typeface="Calibri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979000" y="5321808"/>
            <a:ext cx="2606040" cy="235962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200" b="1" dirty="0">
                <a:solidFill>
                  <a:srgbClr val="F4B400"/>
                </a:solidFill>
                <a:latin typeface="Calibri"/>
              </a:rPr>
              <a:t>De</a:t>
            </a:r>
            <a:r>
              <a:rPr lang="en-US" sz="1200" b="1" dirty="0">
                <a:solidFill>
                  <a:srgbClr val="F4B400"/>
                </a:solidFill>
                <a:latin typeface="Calibri"/>
              </a:rPr>
              <a:t>signer</a:t>
            </a:r>
            <a:endParaRPr sz="1200" b="1" dirty="0">
              <a:solidFill>
                <a:srgbClr val="F4B400"/>
              </a:solidFill>
              <a:latin typeface="Calibri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8915400" y="4023360"/>
            <a:ext cx="2606040" cy="7315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64592" cy="6693408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9601200" cy="5943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3000" b="1">
                <a:solidFill>
                  <a:srgbClr val="0B3D91"/>
                </a:solidFill>
                <a:latin typeface="Calibri"/>
              </a:rPr>
              <a:t>Problem &amp; Proposed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64592" y="859536"/>
            <a:ext cx="11448288" cy="128016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0584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2000" b="0" dirty="0">
                <a:solidFill>
                  <a:srgbClr val="556677"/>
                </a:solidFill>
                <a:latin typeface="Calibri"/>
              </a:rPr>
              <a:t>Why educational institutions need a smarter way to choose</a:t>
            </a:r>
            <a:r>
              <a:rPr sz="1400" b="0" dirty="0">
                <a:solidFill>
                  <a:srgbClr val="556677"/>
                </a:solidFill>
                <a:latin typeface="Calibri"/>
              </a:rPr>
              <a:t>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5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609104"/>
            <a:ext cx="7315200" cy="205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r>
              <a:rPr sz="1000" b="0" dirty="0">
                <a:solidFill>
                  <a:srgbClr val="556677"/>
                </a:solidFill>
                <a:latin typeface="Calibri"/>
              </a:rPr>
              <a:t>Team Gryffindor  •  </a:t>
            </a:r>
            <a:r>
              <a:rPr lang="en-IN" sz="1000" dirty="0">
                <a:solidFill>
                  <a:srgbClr val="556677"/>
                </a:solidFill>
              </a:rPr>
              <a:t> </a:t>
            </a:r>
            <a:r>
              <a:rPr lang="en-IN" sz="1000" dirty="0" err="1">
                <a:solidFill>
                  <a:srgbClr val="556677"/>
                </a:solidFill>
              </a:rPr>
              <a:t>SmartSelection</a:t>
            </a:r>
            <a:r>
              <a:rPr lang="en-IN" sz="1000" dirty="0">
                <a:solidFill>
                  <a:srgbClr val="556677"/>
                </a:solidFill>
              </a:rPr>
              <a:t> &amp; Performance Analyser</a:t>
            </a:r>
            <a:endParaRPr sz="1000" b="0" dirty="0">
              <a:solidFill>
                <a:srgbClr val="556677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820095" y="6565392"/>
            <a:ext cx="914400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000" b="0">
                <a:solidFill>
                  <a:srgbClr val="556677"/>
                </a:solidFill>
                <a:latin typeface="Calibri"/>
              </a:rPr>
              <a:t>3 / 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554480"/>
            <a:ext cx="5257800" cy="4572000"/>
          </a:xfrm>
          <a:prstGeom prst="roundRect">
            <a:avLst>
              <a:gd name="adj" fmla="val 4000"/>
            </a:avLst>
          </a:prstGeom>
          <a:solidFill>
            <a:srgbClr val="F5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8640" y="1554480"/>
            <a:ext cx="164592" cy="4572000"/>
          </a:xfrm>
          <a:prstGeom prst="rect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1737360"/>
            <a:ext cx="4892040" cy="297517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600" b="1" dirty="0">
                <a:solidFill>
                  <a:srgbClr val="E53935"/>
                </a:solidFill>
                <a:latin typeface="Calibri"/>
              </a:rPr>
              <a:t>THE PROBLEM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103120"/>
            <a:ext cx="4892040" cy="7315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2200" b="1">
                <a:solidFill>
                  <a:srgbClr val="0B3D91"/>
                </a:solidFill>
                <a:latin typeface="Calibri"/>
              </a:rPr>
              <a:t>Manual Student Selection is Slow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971800"/>
            <a:ext cx="4892040" cy="1725344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dirty="0">
                <a:solidFill>
                  <a:srgbClr val="1E88E5"/>
                </a:solidFill>
                <a:latin typeface="Calibri"/>
              </a:rPr>
              <a:t>●  </a:t>
            </a:r>
            <a:r>
              <a:rPr sz="1600" b="0" dirty="0">
                <a:solidFill>
                  <a:srgbClr val="0F1A2E"/>
                </a:solidFill>
                <a:latin typeface="Calibri"/>
              </a:rPr>
              <a:t>Teachers manually scan hundreds of student records.</a:t>
            </a:r>
          </a:p>
          <a:p>
            <a:pPr algn="l">
              <a:lnSpc>
                <a:spcPct val="135000"/>
              </a:lnSpc>
            </a:pPr>
            <a:r>
              <a:rPr sz="1600" b="1" dirty="0">
                <a:solidFill>
                  <a:srgbClr val="1E88E5"/>
                </a:solidFill>
                <a:latin typeface="Calibri"/>
              </a:rPr>
              <a:t>●  </a:t>
            </a:r>
            <a:r>
              <a:rPr sz="1600" b="0" dirty="0">
                <a:solidFill>
                  <a:srgbClr val="0F1A2E"/>
                </a:solidFill>
                <a:latin typeface="Calibri"/>
              </a:rPr>
              <a:t>Tracking skills, certifications &amp; history is tedious.</a:t>
            </a:r>
          </a:p>
          <a:p>
            <a:pPr algn="l">
              <a:lnSpc>
                <a:spcPct val="135000"/>
              </a:lnSpc>
            </a:pPr>
            <a:r>
              <a:rPr sz="1600" b="1" dirty="0">
                <a:solidFill>
                  <a:srgbClr val="1E88E5"/>
                </a:solidFill>
                <a:latin typeface="Calibri"/>
              </a:rPr>
              <a:t>●  </a:t>
            </a:r>
            <a:r>
              <a:rPr sz="1600" b="0" dirty="0">
                <a:solidFill>
                  <a:srgbClr val="0F1A2E"/>
                </a:solidFill>
                <a:latin typeface="Calibri"/>
              </a:rPr>
              <a:t>No </a:t>
            </a:r>
            <a:r>
              <a:rPr sz="1600" b="0" dirty="0" err="1">
                <a:solidFill>
                  <a:srgbClr val="0F1A2E"/>
                </a:solidFill>
                <a:latin typeface="Calibri"/>
              </a:rPr>
              <a:t>centralised</a:t>
            </a:r>
            <a:r>
              <a:rPr sz="1600" b="0" dirty="0">
                <a:solidFill>
                  <a:srgbClr val="0F1A2E"/>
                </a:solidFill>
                <a:latin typeface="Calibri"/>
              </a:rPr>
              <a:t> academic performance view.</a:t>
            </a:r>
          </a:p>
          <a:p>
            <a:pPr algn="l">
              <a:lnSpc>
                <a:spcPct val="135000"/>
              </a:lnSpc>
            </a:pPr>
            <a:r>
              <a:rPr sz="1600" b="1" dirty="0">
                <a:solidFill>
                  <a:srgbClr val="1E88E5"/>
                </a:solidFill>
                <a:latin typeface="Calibri"/>
              </a:rPr>
              <a:t>●  </a:t>
            </a:r>
            <a:r>
              <a:rPr sz="1600" b="0" dirty="0">
                <a:solidFill>
                  <a:srgbClr val="0F1A2E"/>
                </a:solidFill>
                <a:latin typeface="Calibri"/>
              </a:rPr>
              <a:t>Risk of overlooking the most eligible candidates.</a:t>
            </a:r>
          </a:p>
          <a:p>
            <a:pPr algn="l">
              <a:lnSpc>
                <a:spcPct val="135000"/>
              </a:lnSpc>
            </a:pPr>
            <a:r>
              <a:rPr sz="1600" b="1" dirty="0">
                <a:solidFill>
                  <a:srgbClr val="1E88E5"/>
                </a:solidFill>
                <a:latin typeface="Calibri"/>
              </a:rPr>
              <a:t>●  </a:t>
            </a:r>
            <a:r>
              <a:rPr sz="1600" b="0" dirty="0">
                <a:solidFill>
                  <a:srgbClr val="0F1A2E"/>
                </a:solidFill>
                <a:latin typeface="Calibri"/>
              </a:rPr>
              <a:t>Repeated effort for every event, drive or scholarship</a:t>
            </a:r>
            <a:r>
              <a:rPr sz="1300" b="0" dirty="0">
                <a:solidFill>
                  <a:srgbClr val="0F1A2E"/>
                </a:solidFill>
                <a:latin typeface="Calibri"/>
              </a:rPr>
              <a:t>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1554480"/>
            <a:ext cx="5257800" cy="4572000"/>
          </a:xfrm>
          <a:prstGeom prst="roundRect">
            <a:avLst>
              <a:gd name="adj" fmla="val 4000"/>
            </a:avLst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355080" y="1554480"/>
            <a:ext cx="164592" cy="4572000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75120" y="1737360"/>
            <a:ext cx="4892040" cy="297517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600" b="1" dirty="0">
                <a:solidFill>
                  <a:srgbClr val="F4B400"/>
                </a:solidFill>
                <a:latin typeface="Calibri"/>
              </a:rPr>
              <a:t>OUR 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103120"/>
            <a:ext cx="4892040" cy="7315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Intelligent Keyword-Based Engine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2971800"/>
            <a:ext cx="489204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</a:pPr>
            <a:r>
              <a:rPr sz="1600" b="1" dirty="0">
                <a:solidFill>
                  <a:srgbClr val="F4B400"/>
                </a:solidFill>
                <a:latin typeface="Calibri"/>
              </a:rPr>
              <a:t>✓  </a:t>
            </a:r>
            <a:r>
              <a:rPr sz="1600" dirty="0" err="1">
                <a:solidFill>
                  <a:srgbClr val="FFFFFF"/>
                </a:solidFill>
                <a:latin typeface="Calibri"/>
              </a:rPr>
              <a:t>Centralised</a:t>
            </a:r>
            <a:r>
              <a:rPr sz="1600" dirty="0">
                <a:solidFill>
                  <a:srgbClr val="FFFFFF"/>
                </a:solidFill>
                <a:latin typeface="Calibri"/>
              </a:rPr>
              <a:t> digital profile of every student.</a:t>
            </a:r>
          </a:p>
          <a:p>
            <a:pPr>
              <a:lnSpc>
                <a:spcPct val="135000"/>
              </a:lnSpc>
            </a:pPr>
            <a:r>
              <a:rPr sz="1600" b="1" dirty="0">
                <a:solidFill>
                  <a:srgbClr val="F4B400"/>
                </a:solidFill>
                <a:latin typeface="Calibri"/>
              </a:rPr>
              <a:t>✓  </a:t>
            </a:r>
            <a:r>
              <a:rPr sz="1600" dirty="0">
                <a:solidFill>
                  <a:srgbClr val="FFFFFF"/>
                </a:solidFill>
                <a:latin typeface="Calibri"/>
              </a:rPr>
              <a:t>Natural-language queries instead of menu filtering.</a:t>
            </a:r>
          </a:p>
          <a:p>
            <a:pPr>
              <a:lnSpc>
                <a:spcPct val="135000"/>
              </a:lnSpc>
            </a:pPr>
            <a:r>
              <a:rPr sz="1600" b="1" dirty="0">
                <a:solidFill>
                  <a:srgbClr val="F4B400"/>
                </a:solidFill>
                <a:latin typeface="Calibri"/>
              </a:rPr>
              <a:t>✓  </a:t>
            </a:r>
            <a:r>
              <a:rPr sz="1600" dirty="0">
                <a:solidFill>
                  <a:srgbClr val="FFFFFF"/>
                </a:solidFill>
                <a:latin typeface="Calibri"/>
              </a:rPr>
              <a:t>Automatic performance classification &amp; analytics.</a:t>
            </a:r>
          </a:p>
          <a:p>
            <a:pPr>
              <a:lnSpc>
                <a:spcPct val="135000"/>
              </a:lnSpc>
            </a:pPr>
            <a:r>
              <a:rPr sz="1600" b="1" dirty="0">
                <a:solidFill>
                  <a:srgbClr val="F4B400"/>
                </a:solidFill>
                <a:latin typeface="Calibri"/>
              </a:rPr>
              <a:t>✓  </a:t>
            </a:r>
            <a:r>
              <a:rPr sz="1600" dirty="0">
                <a:solidFill>
                  <a:srgbClr val="FFFFFF"/>
                </a:solidFill>
                <a:latin typeface="Calibri"/>
              </a:rPr>
              <a:t>Smart matching of students to events </a:t>
            </a:r>
            <a:r>
              <a:rPr lang="en-GB" sz="1600" dirty="0">
                <a:solidFill>
                  <a:srgbClr val="FFFFFF"/>
                </a:solidFill>
                <a:latin typeface="Calibri"/>
              </a:rPr>
              <a:t>.</a:t>
            </a:r>
            <a:endParaRPr sz="1600" dirty="0">
              <a:solidFill>
                <a:srgbClr val="FFFFFF"/>
              </a:solidFill>
              <a:latin typeface="Calibri"/>
            </a:endParaRPr>
          </a:p>
          <a:p>
            <a:pPr>
              <a:lnSpc>
                <a:spcPct val="135000"/>
              </a:lnSpc>
            </a:pPr>
            <a:r>
              <a:rPr sz="1600" b="1" dirty="0">
                <a:solidFill>
                  <a:srgbClr val="F4B400"/>
                </a:solidFill>
                <a:latin typeface="Calibri"/>
              </a:rPr>
              <a:t>✓  </a:t>
            </a:r>
            <a:r>
              <a:rPr sz="1600" dirty="0">
                <a:solidFill>
                  <a:srgbClr val="FFFFFF"/>
                </a:solidFill>
                <a:latin typeface="Calibri"/>
              </a:rPr>
              <a:t>Faster, fairer, data-driven decisions.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64592" cy="6693408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9601200" cy="5943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3000" b="1" dirty="0">
                <a:solidFill>
                  <a:srgbClr val="0B3D91"/>
                </a:solidFill>
                <a:latin typeface="Calibri"/>
              </a:rPr>
              <a:t>Objectives &amp; Core Modules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64593" y="932688"/>
            <a:ext cx="11768328" cy="45719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058400" cy="328295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b="0" dirty="0">
                <a:solidFill>
                  <a:srgbClr val="556677"/>
                </a:solidFill>
                <a:latin typeface="Calibri"/>
              </a:rPr>
              <a:t>What we set out to build and how it is structured.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5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609104"/>
            <a:ext cx="7315200" cy="205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r>
              <a:rPr sz="1000" b="0" dirty="0">
                <a:solidFill>
                  <a:srgbClr val="556677"/>
                </a:solidFill>
                <a:latin typeface="Calibri"/>
              </a:rPr>
              <a:t>Team Gryffindor  •  </a:t>
            </a:r>
            <a:r>
              <a:rPr lang="en-IN" sz="1000" dirty="0">
                <a:solidFill>
                  <a:srgbClr val="556677"/>
                </a:solidFill>
              </a:rPr>
              <a:t> </a:t>
            </a:r>
            <a:r>
              <a:rPr lang="en-IN" sz="1000" dirty="0" err="1">
                <a:solidFill>
                  <a:srgbClr val="556677"/>
                </a:solidFill>
              </a:rPr>
              <a:t>SmartSelection</a:t>
            </a:r>
            <a:r>
              <a:rPr lang="en-IN" sz="1000" dirty="0">
                <a:solidFill>
                  <a:srgbClr val="556677"/>
                </a:solidFill>
              </a:rPr>
              <a:t> &amp; Performance Analyser</a:t>
            </a:r>
            <a:endParaRPr sz="1000" b="0" dirty="0">
              <a:solidFill>
                <a:srgbClr val="556677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820095" y="6565392"/>
            <a:ext cx="914400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000" b="0">
                <a:solidFill>
                  <a:srgbClr val="556677"/>
                </a:solidFill>
                <a:latin typeface="Calibri"/>
              </a:rPr>
              <a:t>4 /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463040"/>
            <a:ext cx="109728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2000" b="1" dirty="0">
                <a:solidFill>
                  <a:srgbClr val="F4B400"/>
                </a:solidFill>
                <a:latin typeface="Calibri"/>
              </a:rPr>
              <a:t>KEY OBJECTIVES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828800"/>
            <a:ext cx="2743200" cy="777240"/>
          </a:xfrm>
          <a:prstGeom prst="roundRect">
            <a:avLst>
              <a:gd name="adj" fmla="val 10000"/>
            </a:avLst>
          </a:prstGeom>
          <a:solidFill>
            <a:srgbClr val="F5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85800" y="196596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1965960"/>
            <a:ext cx="50292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022048"/>
            <a:ext cx="1920240" cy="482183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400" dirty="0">
                <a:solidFill>
                  <a:srgbClr val="0F1A2E"/>
                </a:solidFill>
                <a:latin typeface="Calibri"/>
              </a:rPr>
              <a:t>Maintain complete digital student profiles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9000" y="1828800"/>
            <a:ext cx="2743200" cy="777240"/>
          </a:xfrm>
          <a:prstGeom prst="roundRect">
            <a:avLst>
              <a:gd name="adj" fmla="val 10000"/>
            </a:avLst>
          </a:prstGeom>
          <a:solidFill>
            <a:srgbClr val="F5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566160" y="196596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566160" y="1965960"/>
            <a:ext cx="50292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60520" y="1914327"/>
            <a:ext cx="1920240" cy="697627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400" b="0" dirty="0" err="1">
                <a:solidFill>
                  <a:srgbClr val="0F1A2E"/>
                </a:solidFill>
                <a:latin typeface="Calibri"/>
              </a:rPr>
              <a:t>Analyse</a:t>
            </a:r>
            <a:r>
              <a:rPr sz="1400" b="0" dirty="0">
                <a:solidFill>
                  <a:srgbClr val="0F1A2E"/>
                </a:solidFill>
                <a:latin typeface="Calibri"/>
              </a:rPr>
              <a:t> academic performance automatically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1828800"/>
            <a:ext cx="2743200" cy="777240"/>
          </a:xfrm>
          <a:prstGeom prst="roundRect">
            <a:avLst>
              <a:gd name="adj" fmla="val 10000"/>
            </a:avLst>
          </a:prstGeom>
          <a:solidFill>
            <a:srgbClr val="F5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446520" y="196596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46520" y="1965960"/>
            <a:ext cx="50292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2022048"/>
            <a:ext cx="1920240" cy="482183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400" b="0" dirty="0">
                <a:solidFill>
                  <a:srgbClr val="0F1A2E"/>
                </a:solidFill>
                <a:latin typeface="Calibri"/>
              </a:rPr>
              <a:t>Enable keyword-based intelligent search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89720" y="1828800"/>
            <a:ext cx="2743200" cy="777240"/>
          </a:xfrm>
          <a:prstGeom prst="roundRect">
            <a:avLst>
              <a:gd name="adj" fmla="val 10000"/>
            </a:avLst>
          </a:prstGeom>
          <a:solidFill>
            <a:srgbClr val="F5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9326880" y="196596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326880" y="1965960"/>
            <a:ext cx="50292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21240" y="1914327"/>
            <a:ext cx="1920240" cy="697627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400" b="0" dirty="0">
                <a:solidFill>
                  <a:srgbClr val="0F1A2E"/>
                </a:solidFill>
                <a:latin typeface="Calibri"/>
              </a:rPr>
              <a:t>Recommend the right student for the right event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2971800"/>
            <a:ext cx="109728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2000" b="1" dirty="0">
                <a:solidFill>
                  <a:srgbClr val="F4B400"/>
                </a:solidFill>
                <a:latin typeface="Calibri"/>
              </a:rPr>
              <a:t>THREE CORE MODULES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3383280"/>
            <a:ext cx="3657600" cy="3017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2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48640" y="3383280"/>
            <a:ext cx="3657600" cy="59436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77240" y="3536273"/>
            <a:ext cx="2173778" cy="297517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600" b="1" dirty="0">
                <a:solidFill>
                  <a:srgbClr val="FFFFFF"/>
                </a:solidFill>
                <a:latin typeface="Calibri"/>
              </a:rPr>
              <a:t>MODULE 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4114800"/>
            <a:ext cx="3200400" cy="666849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2000" b="1" dirty="0">
                <a:solidFill>
                  <a:srgbClr val="0B3D91"/>
                </a:solidFill>
                <a:latin typeface="Calibri"/>
              </a:rPr>
              <a:t>Student Database</a:t>
            </a:r>
          </a:p>
          <a:p>
            <a:pPr algn="l"/>
            <a:r>
              <a:rPr sz="2000" b="1" dirty="0">
                <a:solidFill>
                  <a:srgbClr val="0B3D91"/>
                </a:solidFill>
                <a:latin typeface="Calibri"/>
              </a:rPr>
              <a:t>Management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4827369"/>
            <a:ext cx="3200400" cy="13467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600" b="1" dirty="0">
                <a:solidFill>
                  <a:srgbClr val="0B3D91"/>
                </a:solidFill>
              </a:rPr>
              <a:t>▸  </a:t>
            </a:r>
            <a:r>
              <a:rPr sz="1600" dirty="0">
                <a:solidFill>
                  <a:srgbClr val="0F1A2E"/>
                </a:solidFill>
              </a:rPr>
              <a:t>Add / Update / Delete records</a:t>
            </a:r>
          </a:p>
          <a:p>
            <a:pPr>
              <a:lnSpc>
                <a:spcPct val="130000"/>
              </a:lnSpc>
            </a:pPr>
            <a:r>
              <a:rPr sz="1600" b="1" dirty="0">
                <a:solidFill>
                  <a:srgbClr val="0B3D91"/>
                </a:solidFill>
              </a:rPr>
              <a:t>▸  </a:t>
            </a:r>
            <a:r>
              <a:rPr sz="1600" dirty="0">
                <a:solidFill>
                  <a:srgbClr val="0F1A2E"/>
                </a:solidFill>
              </a:rPr>
              <a:t>View student details</a:t>
            </a:r>
          </a:p>
          <a:p>
            <a:pPr>
              <a:lnSpc>
                <a:spcPct val="130000"/>
              </a:lnSpc>
            </a:pPr>
            <a:r>
              <a:rPr sz="1600" b="1" dirty="0">
                <a:solidFill>
                  <a:srgbClr val="0B3D91"/>
                </a:solidFill>
              </a:rPr>
              <a:t>▸  </a:t>
            </a:r>
            <a:r>
              <a:rPr sz="1600" dirty="0">
                <a:solidFill>
                  <a:srgbClr val="0F1A2E"/>
                </a:solidFill>
              </a:rPr>
              <a:t>Manage skills, fees,
certifications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89120" y="3383280"/>
            <a:ext cx="3657600" cy="3017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2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389120" y="3383280"/>
            <a:ext cx="3657600" cy="594360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617720" y="3536273"/>
            <a:ext cx="2331720" cy="297517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600" b="1" dirty="0">
                <a:solidFill>
                  <a:srgbClr val="FFFFFF"/>
                </a:solidFill>
                <a:latin typeface="Calibri"/>
              </a:rPr>
              <a:t>MODULE 02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17720" y="4114800"/>
            <a:ext cx="3200400" cy="666849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2000" b="1" dirty="0">
                <a:solidFill>
                  <a:srgbClr val="0B3D91"/>
                </a:solidFill>
                <a:latin typeface="Calibri"/>
              </a:rPr>
              <a:t>Academic Performance</a:t>
            </a:r>
          </a:p>
          <a:p>
            <a:pPr algn="l"/>
            <a:r>
              <a:rPr sz="2000" b="1" dirty="0">
                <a:solidFill>
                  <a:srgbClr val="0B3D91"/>
                </a:solidFill>
                <a:latin typeface="Calibri"/>
              </a:rPr>
              <a:t>Analytics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09160" y="4906398"/>
            <a:ext cx="3200400" cy="1052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600" b="1" dirty="0">
                <a:solidFill>
                  <a:srgbClr val="1E88E5"/>
                </a:solidFill>
              </a:rPr>
              <a:t>▸  </a:t>
            </a:r>
            <a:r>
              <a:rPr sz="1600" dirty="0">
                <a:solidFill>
                  <a:srgbClr val="0F1A2E"/>
                </a:solidFill>
              </a:rPr>
              <a:t>Average marks calculation</a:t>
            </a:r>
          </a:p>
          <a:p>
            <a:pPr>
              <a:lnSpc>
                <a:spcPct val="130000"/>
              </a:lnSpc>
            </a:pPr>
            <a:r>
              <a:rPr sz="1600" b="1" dirty="0">
                <a:solidFill>
                  <a:srgbClr val="1E88E5"/>
                </a:solidFill>
              </a:rPr>
              <a:t>▸  </a:t>
            </a:r>
            <a:r>
              <a:rPr sz="1600" dirty="0">
                <a:solidFill>
                  <a:srgbClr val="0F1A2E"/>
                </a:solidFill>
              </a:rPr>
              <a:t>Pass / Fail rate analysis</a:t>
            </a:r>
          </a:p>
          <a:p>
            <a:pPr>
              <a:lnSpc>
                <a:spcPct val="130000"/>
              </a:lnSpc>
            </a:pPr>
            <a:r>
              <a:rPr sz="1600" b="1" dirty="0">
                <a:solidFill>
                  <a:srgbClr val="1E88E5"/>
                </a:solidFill>
              </a:rPr>
              <a:t>▸  </a:t>
            </a:r>
            <a:r>
              <a:rPr sz="1600" dirty="0" err="1">
                <a:solidFill>
                  <a:srgbClr val="0F1A2E"/>
                </a:solidFill>
              </a:rPr>
              <a:t>Categorise</a:t>
            </a:r>
            <a:r>
              <a:rPr sz="1600" dirty="0">
                <a:solidFill>
                  <a:srgbClr val="0F1A2E"/>
                </a:solidFill>
              </a:rPr>
              <a:t>: Poor • Average 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29600" y="3383280"/>
            <a:ext cx="3657600" cy="3017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2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8229600" y="3383280"/>
            <a:ext cx="3657600" cy="5943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458200" y="3536273"/>
            <a:ext cx="2459182" cy="297517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MODULE 03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58200" y="4114800"/>
            <a:ext cx="3200400" cy="666849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2000" b="1" dirty="0">
                <a:solidFill>
                  <a:srgbClr val="0B3D91"/>
                </a:solidFill>
                <a:latin typeface="Calibri"/>
              </a:rPr>
              <a:t>Intelligent Keyword</a:t>
            </a:r>
          </a:p>
          <a:p>
            <a:pPr algn="l"/>
            <a:r>
              <a:rPr sz="2000" b="1" dirty="0">
                <a:solidFill>
                  <a:srgbClr val="0B3D91"/>
                </a:solidFill>
                <a:latin typeface="Calibri"/>
              </a:rPr>
              <a:t>Search Engine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03920" y="4822936"/>
            <a:ext cx="3200400" cy="134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600" b="1" dirty="0">
                <a:solidFill>
                  <a:srgbClr val="2E7D32"/>
                </a:solidFill>
              </a:rPr>
              <a:t>▸  </a:t>
            </a:r>
            <a:r>
              <a:rPr sz="1600" dirty="0">
                <a:solidFill>
                  <a:srgbClr val="0F1A2E"/>
                </a:solidFill>
              </a:rPr>
              <a:t>Natural-language queries</a:t>
            </a:r>
          </a:p>
          <a:p>
            <a:pPr>
              <a:lnSpc>
                <a:spcPct val="130000"/>
              </a:lnSpc>
            </a:pPr>
            <a:r>
              <a:rPr sz="1600" b="1" dirty="0">
                <a:solidFill>
                  <a:srgbClr val="2E7D32"/>
                </a:solidFill>
              </a:rPr>
              <a:t>▸  </a:t>
            </a:r>
            <a:r>
              <a:rPr sz="1600" dirty="0">
                <a:solidFill>
                  <a:srgbClr val="0F1A2E"/>
                </a:solidFill>
              </a:rPr>
              <a:t>Tokenization &amp; keyword extraction</a:t>
            </a:r>
          </a:p>
          <a:p>
            <a:pPr>
              <a:lnSpc>
                <a:spcPct val="130000"/>
              </a:lnSpc>
            </a:pPr>
            <a:r>
              <a:rPr sz="1600" b="1" dirty="0">
                <a:solidFill>
                  <a:srgbClr val="2E7D32"/>
                </a:solidFill>
              </a:rPr>
              <a:t>▸  </a:t>
            </a:r>
            <a:r>
              <a:rPr sz="1600" dirty="0">
                <a:solidFill>
                  <a:srgbClr val="0F1A2E"/>
                </a:solidFill>
              </a:rPr>
              <a:t>Smart recommendation output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64592" cy="6693408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9601200" cy="5943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3000" b="1">
                <a:solidFill>
                  <a:srgbClr val="0B3D91"/>
                </a:solidFill>
                <a:latin typeface="Calibri"/>
              </a:rPr>
              <a:t>System Workflow &amp; Architecture</a:t>
            </a:r>
          </a:p>
        </p:txBody>
      </p:sp>
      <p:sp>
        <p:nvSpPr>
          <p:cNvPr id="5" name="Rectangle 4"/>
          <p:cNvSpPr/>
          <p:nvPr/>
        </p:nvSpPr>
        <p:spPr>
          <a:xfrm flipV="1">
            <a:off x="164592" y="876044"/>
            <a:ext cx="11356848" cy="56644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058400" cy="328295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b="0" dirty="0">
                <a:solidFill>
                  <a:srgbClr val="556677"/>
                </a:solidFill>
                <a:latin typeface="Calibri"/>
              </a:rPr>
              <a:t>From a teacher's query to a ranked list of recommended students</a:t>
            </a:r>
            <a:r>
              <a:rPr sz="1400" b="0" dirty="0">
                <a:solidFill>
                  <a:srgbClr val="556677"/>
                </a:solidFill>
                <a:latin typeface="Calibri"/>
              </a:rPr>
              <a:t>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5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609104"/>
            <a:ext cx="7315200" cy="205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r>
              <a:rPr sz="1000" b="0" dirty="0">
                <a:solidFill>
                  <a:srgbClr val="556677"/>
                </a:solidFill>
                <a:latin typeface="Calibri"/>
              </a:rPr>
              <a:t>Team Gryffindor  •  </a:t>
            </a:r>
            <a:r>
              <a:rPr lang="en-IN" sz="1000" dirty="0">
                <a:solidFill>
                  <a:srgbClr val="556677"/>
                </a:solidFill>
              </a:rPr>
              <a:t> </a:t>
            </a:r>
            <a:r>
              <a:rPr lang="en-IN" sz="1000" dirty="0" err="1">
                <a:solidFill>
                  <a:srgbClr val="556677"/>
                </a:solidFill>
              </a:rPr>
              <a:t>SmartSelection</a:t>
            </a:r>
            <a:r>
              <a:rPr lang="en-IN" sz="1000" dirty="0">
                <a:solidFill>
                  <a:srgbClr val="556677"/>
                </a:solidFill>
              </a:rPr>
              <a:t> &amp; Performance Analyser</a:t>
            </a:r>
            <a:endParaRPr sz="1000" b="0" dirty="0">
              <a:solidFill>
                <a:srgbClr val="556677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820095" y="6565392"/>
            <a:ext cx="914400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000" b="0">
                <a:solidFill>
                  <a:srgbClr val="556677"/>
                </a:solidFill>
                <a:latin typeface="Calibri"/>
              </a:rPr>
              <a:t>5 / 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20240"/>
            <a:ext cx="1554480" cy="1371600"/>
          </a:xfrm>
          <a:prstGeom prst="roundRect">
            <a:avLst>
              <a:gd name="adj" fmla="val 12000"/>
            </a:avLst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2105570"/>
            <a:ext cx="1463040" cy="543739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Calibri"/>
              </a:rPr>
              <a:t>Query</a:t>
            </a:r>
          </a:p>
          <a:p>
            <a:pPr algn="ctr"/>
            <a:r>
              <a:rPr sz="1600" b="1" dirty="0">
                <a:solidFill>
                  <a:srgbClr val="FFFFFF"/>
                </a:solidFill>
                <a:latin typeface="Calibri"/>
              </a:rP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761486"/>
            <a:ext cx="1463040" cy="42062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200" b="0" dirty="0">
                <a:solidFill>
                  <a:srgbClr val="DCE7F8"/>
                </a:solidFill>
                <a:latin typeface="Calibri"/>
              </a:rPr>
              <a:t>Teacher types a</a:t>
            </a:r>
          </a:p>
          <a:p>
            <a:pPr algn="ctr"/>
            <a:r>
              <a:rPr sz="1200" b="0" dirty="0">
                <a:solidFill>
                  <a:srgbClr val="DCE7F8"/>
                </a:solidFill>
                <a:latin typeface="Calibri"/>
              </a:rPr>
              <a:t>natural query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91640" y="1755648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691640" y="1755648"/>
            <a:ext cx="41148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200" b="1">
                <a:solidFill>
                  <a:srgbClr val="0F1A2E"/>
                </a:solidFill>
                <a:latin typeface="Calibri"/>
              </a:rPr>
              <a:t>1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2121408" y="2468880"/>
            <a:ext cx="310896" cy="274320"/>
          </a:xfrm>
          <a:prstGeom prst="rightArrow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2450592" y="1920240"/>
            <a:ext cx="1554480" cy="1371600"/>
          </a:xfrm>
          <a:prstGeom prst="roundRect">
            <a:avLst>
              <a:gd name="adj" fmla="val 12000"/>
            </a:avLst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496312" y="2105570"/>
            <a:ext cx="1463040" cy="543739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Calibri"/>
              </a:rPr>
              <a:t>Text</a:t>
            </a:r>
          </a:p>
          <a:p>
            <a:pPr algn="ctr"/>
            <a:r>
              <a:rPr sz="1600" b="1" dirty="0">
                <a:solidFill>
                  <a:srgbClr val="FFFFFF"/>
                </a:solidFill>
                <a:latin typeface="Calibri"/>
              </a:rPr>
              <a:t>Processing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96312" y="2730708"/>
            <a:ext cx="1463040" cy="482183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0" dirty="0">
                <a:solidFill>
                  <a:srgbClr val="DCE7F8"/>
                </a:solidFill>
                <a:latin typeface="Calibri"/>
              </a:rPr>
              <a:t>Cleaning &amp;</a:t>
            </a:r>
          </a:p>
          <a:p>
            <a:pPr algn="ctr"/>
            <a:r>
              <a:rPr sz="1400" b="0" dirty="0" err="1">
                <a:solidFill>
                  <a:srgbClr val="DCE7F8"/>
                </a:solidFill>
                <a:latin typeface="Calibri"/>
              </a:rPr>
              <a:t>tokenisation</a:t>
            </a:r>
            <a:endParaRPr sz="1400" b="0" dirty="0">
              <a:solidFill>
                <a:srgbClr val="DCE7F8"/>
              </a:solidFill>
              <a:latin typeface="Calibri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3593592" y="1755648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593592" y="1755648"/>
            <a:ext cx="41148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200" b="1">
                <a:solidFill>
                  <a:srgbClr val="0F1A2E"/>
                </a:solidFill>
                <a:latin typeface="Calibri"/>
              </a:rPr>
              <a:t>2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4023360" y="2468880"/>
            <a:ext cx="310896" cy="274320"/>
          </a:xfrm>
          <a:prstGeom prst="rightArrow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4352544" y="1920240"/>
            <a:ext cx="1554480" cy="1371600"/>
          </a:xfrm>
          <a:prstGeom prst="roundRect">
            <a:avLst>
              <a:gd name="adj" fmla="val 12000"/>
            </a:avLst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398264" y="2105570"/>
            <a:ext cx="1463040" cy="543739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Calibri"/>
              </a:rPr>
              <a:t>Keyword</a:t>
            </a:r>
          </a:p>
          <a:p>
            <a:pPr algn="ctr"/>
            <a:r>
              <a:rPr sz="1600" b="1" dirty="0">
                <a:solidFill>
                  <a:srgbClr val="FFFFFF"/>
                </a:solidFill>
                <a:latin typeface="Calibri"/>
              </a:rPr>
              <a:t>Extraction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98264" y="2730708"/>
            <a:ext cx="1463040" cy="482183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0" dirty="0">
                <a:solidFill>
                  <a:srgbClr val="DCE7F8"/>
                </a:solidFill>
                <a:latin typeface="Calibri"/>
              </a:rPr>
              <a:t>Identify</a:t>
            </a:r>
          </a:p>
          <a:p>
            <a:pPr algn="ctr"/>
            <a:r>
              <a:rPr sz="1400" b="0" dirty="0">
                <a:solidFill>
                  <a:srgbClr val="DCE7F8"/>
                </a:solidFill>
                <a:latin typeface="Calibri"/>
              </a:rPr>
              <a:t>important terms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95544" y="1755648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495544" y="1755648"/>
            <a:ext cx="41148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200" b="1">
                <a:solidFill>
                  <a:srgbClr val="0F1A2E"/>
                </a:solidFill>
                <a:latin typeface="Calibri"/>
              </a:rPr>
              <a:t>3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5925312" y="2468880"/>
            <a:ext cx="310896" cy="274320"/>
          </a:xfrm>
          <a:prstGeom prst="rightArrow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6254496" y="1920240"/>
            <a:ext cx="1554480" cy="1371600"/>
          </a:xfrm>
          <a:prstGeom prst="roundRect">
            <a:avLst>
              <a:gd name="adj" fmla="val 12000"/>
            </a:avLst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00216" y="2105570"/>
            <a:ext cx="1463040" cy="543739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Calibri"/>
              </a:rPr>
              <a:t>Database</a:t>
            </a:r>
          </a:p>
          <a:p>
            <a:pPr algn="ctr"/>
            <a:r>
              <a:rPr sz="1600" b="1" dirty="0">
                <a:solidFill>
                  <a:srgbClr val="FFFFFF"/>
                </a:solidFill>
                <a:latin typeface="Calibri"/>
              </a:rPr>
              <a:t>Search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0216" y="2730708"/>
            <a:ext cx="1463040" cy="482183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0" dirty="0">
                <a:solidFill>
                  <a:srgbClr val="DCE7F8"/>
                </a:solidFill>
                <a:latin typeface="Calibri"/>
              </a:rPr>
              <a:t>Lookup matching</a:t>
            </a:r>
          </a:p>
          <a:p>
            <a:pPr algn="ctr"/>
            <a:r>
              <a:rPr sz="1400" b="0" dirty="0">
                <a:solidFill>
                  <a:srgbClr val="DCE7F8"/>
                </a:solidFill>
                <a:latin typeface="Calibri"/>
              </a:rPr>
              <a:t>student records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97496" y="1755648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397496" y="1755648"/>
            <a:ext cx="41148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200" b="1">
                <a:solidFill>
                  <a:srgbClr val="0F1A2E"/>
                </a:solidFill>
                <a:latin typeface="Calibri"/>
              </a:rPr>
              <a:t>4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7827264" y="2468880"/>
            <a:ext cx="310896" cy="274320"/>
          </a:xfrm>
          <a:prstGeom prst="rightArrow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8156448" y="1920240"/>
            <a:ext cx="1554480" cy="1371600"/>
          </a:xfrm>
          <a:prstGeom prst="roundRect">
            <a:avLst>
              <a:gd name="adj" fmla="val 12000"/>
            </a:avLst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202168" y="2105570"/>
            <a:ext cx="1463040" cy="543739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Calibri"/>
              </a:rPr>
              <a:t>Performance</a:t>
            </a:r>
          </a:p>
          <a:p>
            <a:pPr algn="ctr"/>
            <a:r>
              <a:rPr sz="1600" b="1" dirty="0">
                <a:solidFill>
                  <a:srgbClr val="FFFFFF"/>
                </a:solidFill>
                <a:latin typeface="Calibri"/>
              </a:rPr>
              <a:t>Analysis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02168" y="2730708"/>
            <a:ext cx="1463040" cy="482183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0" dirty="0">
                <a:solidFill>
                  <a:srgbClr val="DCE7F8"/>
                </a:solidFill>
                <a:latin typeface="Calibri"/>
              </a:rPr>
              <a:t>Rank by skills,</a:t>
            </a:r>
          </a:p>
          <a:p>
            <a:pPr algn="ctr"/>
            <a:r>
              <a:rPr sz="1400" b="0" dirty="0">
                <a:solidFill>
                  <a:srgbClr val="DCE7F8"/>
                </a:solidFill>
                <a:latin typeface="Calibri"/>
              </a:rPr>
              <a:t>marks, history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299448" y="1755648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299448" y="1755648"/>
            <a:ext cx="41148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200" b="1">
                <a:solidFill>
                  <a:srgbClr val="0F1A2E"/>
                </a:solidFill>
                <a:latin typeface="Calibri"/>
              </a:rPr>
              <a:t>5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9729216" y="2468880"/>
            <a:ext cx="310896" cy="274320"/>
          </a:xfrm>
          <a:prstGeom prst="rightArrow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10058400" y="1920240"/>
            <a:ext cx="1554480" cy="1371600"/>
          </a:xfrm>
          <a:prstGeom prst="roundRect">
            <a:avLst>
              <a:gd name="adj" fmla="val 12000"/>
            </a:avLst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0104120" y="2105570"/>
            <a:ext cx="1463040" cy="543739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Calibri"/>
              </a:rPr>
              <a:t>Recommended</a:t>
            </a:r>
          </a:p>
          <a:p>
            <a:pPr algn="ctr"/>
            <a:r>
              <a:rPr sz="1600" b="1" dirty="0">
                <a:solidFill>
                  <a:srgbClr val="FFFFFF"/>
                </a:solidFill>
                <a:latin typeface="Calibri"/>
              </a:rPr>
              <a:t>Students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104120" y="2730708"/>
            <a:ext cx="1463040" cy="482183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0" dirty="0">
                <a:solidFill>
                  <a:srgbClr val="DCE7F8"/>
                </a:solidFill>
                <a:latin typeface="Calibri"/>
              </a:rPr>
              <a:t>Display the best</a:t>
            </a:r>
          </a:p>
          <a:p>
            <a:pPr algn="ctr"/>
            <a:r>
              <a:rPr sz="1400" b="0" dirty="0">
                <a:solidFill>
                  <a:srgbClr val="DCE7F8"/>
                </a:solidFill>
                <a:latin typeface="Calibri"/>
              </a:rPr>
              <a:t>candidates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1201400" y="1755648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1201400" y="1755648"/>
            <a:ext cx="41148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200" b="1">
                <a:solidFill>
                  <a:srgbClr val="0F1A2E"/>
                </a:solidFill>
                <a:latin typeface="Calibri"/>
              </a:rPr>
              <a:t>6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48640" y="4023360"/>
            <a:ext cx="5486400" cy="2286000"/>
          </a:xfrm>
          <a:prstGeom prst="roundRect">
            <a:avLst>
              <a:gd name="adj" fmla="val 5000"/>
            </a:avLst>
          </a:prstGeom>
          <a:solidFill>
            <a:srgbClr val="F5F9FF"/>
          </a:solidFill>
          <a:ln w="12700">
            <a:solidFill>
              <a:srgbClr val="D8E2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77240" y="4160520"/>
            <a:ext cx="5120640" cy="2667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400" b="1" dirty="0">
                <a:solidFill>
                  <a:srgbClr val="F4B400"/>
                </a:solidFill>
                <a:latin typeface="Calibri"/>
              </a:rPr>
              <a:t>EXAMPLE QUERY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7240" y="4434840"/>
            <a:ext cx="5120640" cy="666849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2000" b="1" dirty="0">
                <a:solidFill>
                  <a:srgbClr val="0B3D91"/>
                </a:solidFill>
                <a:latin typeface="Calibri"/>
              </a:rPr>
              <a:t>“ Recommend students for</a:t>
            </a:r>
          </a:p>
          <a:p>
            <a:pPr algn="l"/>
            <a:r>
              <a:rPr sz="2000" b="1" dirty="0">
                <a:solidFill>
                  <a:srgbClr val="0B3D91"/>
                </a:solidFill>
                <a:latin typeface="Calibri"/>
              </a:rPr>
              <a:t>the Smart India Hackathon ”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680" y="5166360"/>
            <a:ext cx="5120640" cy="7899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600" b="0" dirty="0">
                <a:solidFill>
                  <a:srgbClr val="0F1A2E"/>
                </a:solidFill>
                <a:latin typeface="Calibri"/>
              </a:rPr>
              <a:t>→  Keywords: hackathon, recommend, students</a:t>
            </a:r>
          </a:p>
          <a:p>
            <a:pPr algn="l"/>
            <a:r>
              <a:rPr sz="1600" b="0" dirty="0">
                <a:solidFill>
                  <a:srgbClr val="0F1A2E"/>
                </a:solidFill>
                <a:latin typeface="Calibri"/>
              </a:rPr>
              <a:t>→  Filters: Python, ML, AI cert., </a:t>
            </a:r>
            <a:r>
              <a:rPr sz="1600" b="0" dirty="0" err="1">
                <a:solidFill>
                  <a:srgbClr val="0F1A2E"/>
                </a:solidFill>
                <a:latin typeface="Calibri"/>
              </a:rPr>
              <a:t>avg</a:t>
            </a:r>
            <a:r>
              <a:rPr sz="1600" b="0" dirty="0">
                <a:solidFill>
                  <a:srgbClr val="0F1A2E"/>
                </a:solidFill>
                <a:latin typeface="Calibri"/>
              </a:rPr>
              <a:t> &gt; 80%</a:t>
            </a:r>
          </a:p>
          <a:p>
            <a:pPr algn="l"/>
            <a:r>
              <a:rPr sz="1600" b="0" dirty="0">
                <a:solidFill>
                  <a:srgbClr val="0F1A2E"/>
                </a:solidFill>
                <a:latin typeface="Calibri"/>
              </a:rPr>
              <a:t>→  Output: Ranked list of eligible students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63640" y="4023360"/>
            <a:ext cx="5349240" cy="2286000"/>
          </a:xfrm>
          <a:prstGeom prst="roundRect">
            <a:avLst>
              <a:gd name="adj" fmla="val 5000"/>
            </a:avLst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446520" y="4145577"/>
            <a:ext cx="4846320" cy="2667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400" b="1" dirty="0">
                <a:solidFill>
                  <a:srgbClr val="F4B400"/>
                </a:solidFill>
                <a:latin typeface="Calibri"/>
              </a:rPr>
              <a:t>ARCHITECTURE STACK</a:t>
            </a:r>
          </a:p>
        </p:txBody>
      </p:sp>
      <p:sp>
        <p:nvSpPr>
          <p:cNvPr id="51" name="Oval 50"/>
          <p:cNvSpPr/>
          <p:nvPr/>
        </p:nvSpPr>
        <p:spPr>
          <a:xfrm>
            <a:off x="6537960" y="4599432"/>
            <a:ext cx="164592" cy="164592"/>
          </a:xfrm>
          <a:prstGeom prst="ellipse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812280" y="4560401"/>
            <a:ext cx="2011680" cy="297517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600" b="1" dirty="0">
                <a:solidFill>
                  <a:srgbClr val="FFFFFF"/>
                </a:solidFill>
                <a:latin typeface="Calibri"/>
              </a:rPr>
              <a:t>User Interface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869680" y="4575790"/>
            <a:ext cx="2651760" cy="2667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400" b="0" dirty="0">
                <a:solidFill>
                  <a:srgbClr val="CFE0FF"/>
                </a:solidFill>
                <a:latin typeface="Calibri"/>
              </a:rPr>
              <a:t>Teacher / Admin Login</a:t>
            </a:r>
          </a:p>
        </p:txBody>
      </p:sp>
      <p:sp>
        <p:nvSpPr>
          <p:cNvPr id="54" name="Oval 53"/>
          <p:cNvSpPr/>
          <p:nvPr/>
        </p:nvSpPr>
        <p:spPr>
          <a:xfrm>
            <a:off x="6537960" y="5010912"/>
            <a:ext cx="164592" cy="164592"/>
          </a:xfrm>
          <a:prstGeom prst="ellipse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812280" y="4971881"/>
            <a:ext cx="2011680" cy="297517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600" b="1" dirty="0">
                <a:solidFill>
                  <a:srgbClr val="FFFFFF"/>
                </a:solidFill>
                <a:latin typeface="Calibri"/>
              </a:rPr>
              <a:t>Processing Layer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869680" y="4987270"/>
            <a:ext cx="2651760" cy="2667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400" b="0" dirty="0">
                <a:solidFill>
                  <a:srgbClr val="CFE0FF"/>
                </a:solidFill>
                <a:latin typeface="Calibri"/>
              </a:rPr>
              <a:t>Text + Keyword Engine</a:t>
            </a:r>
          </a:p>
        </p:txBody>
      </p:sp>
      <p:sp>
        <p:nvSpPr>
          <p:cNvPr id="57" name="Oval 56"/>
          <p:cNvSpPr/>
          <p:nvPr/>
        </p:nvSpPr>
        <p:spPr>
          <a:xfrm>
            <a:off x="6537960" y="5422392"/>
            <a:ext cx="164592" cy="164592"/>
          </a:xfrm>
          <a:prstGeom prst="ellipse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812280" y="5383361"/>
            <a:ext cx="2011680" cy="297517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600" b="1" dirty="0">
                <a:solidFill>
                  <a:srgbClr val="FFFFFF"/>
                </a:solidFill>
                <a:latin typeface="Calibri"/>
              </a:rPr>
              <a:t>Recommendation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869680" y="5398750"/>
            <a:ext cx="2651760" cy="2667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400" b="0" dirty="0">
                <a:solidFill>
                  <a:srgbClr val="CFE0FF"/>
                </a:solidFill>
                <a:latin typeface="Calibri"/>
              </a:rPr>
              <a:t>Ranking &amp; Matching Logic</a:t>
            </a:r>
          </a:p>
        </p:txBody>
      </p:sp>
      <p:sp>
        <p:nvSpPr>
          <p:cNvPr id="60" name="Oval 59"/>
          <p:cNvSpPr/>
          <p:nvPr/>
        </p:nvSpPr>
        <p:spPr>
          <a:xfrm>
            <a:off x="6537960" y="5833872"/>
            <a:ext cx="164592" cy="164592"/>
          </a:xfrm>
          <a:prstGeom prst="ellipse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812280" y="5794841"/>
            <a:ext cx="2011680" cy="297517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600" b="1" dirty="0">
                <a:solidFill>
                  <a:srgbClr val="FFFFFF"/>
                </a:solidFill>
                <a:latin typeface="Calibri"/>
              </a:rPr>
              <a:t>Data Layer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869680" y="5810230"/>
            <a:ext cx="2651760" cy="2667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400" b="0" dirty="0">
                <a:solidFill>
                  <a:srgbClr val="CFE0FF"/>
                </a:solidFill>
                <a:latin typeface="Calibri"/>
              </a:rPr>
              <a:t>Student Database (SQLite / MySQL)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64592" cy="6693408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9601200" cy="5943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3000" b="1" dirty="0">
                <a:solidFill>
                  <a:srgbClr val="0B3D91"/>
                </a:solidFill>
                <a:latin typeface="Calibri"/>
              </a:rPr>
              <a:t>Real Hackathons &amp; Symposiums</a:t>
            </a:r>
          </a:p>
        </p:txBody>
      </p:sp>
      <p:sp>
        <p:nvSpPr>
          <p:cNvPr id="5" name="Rectangle 4"/>
          <p:cNvSpPr/>
          <p:nvPr/>
        </p:nvSpPr>
        <p:spPr>
          <a:xfrm flipV="1">
            <a:off x="164592" y="795530"/>
            <a:ext cx="11859768" cy="45719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058400" cy="328295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b="0" dirty="0">
                <a:solidFill>
                  <a:srgbClr val="556677"/>
                </a:solidFill>
                <a:latin typeface="Calibri"/>
              </a:rPr>
              <a:t>How our system maps real opportunities to the right students.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5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609104"/>
            <a:ext cx="7315200" cy="205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r>
              <a:rPr sz="1000" b="0" dirty="0">
                <a:solidFill>
                  <a:srgbClr val="556677"/>
                </a:solidFill>
                <a:latin typeface="Calibri"/>
              </a:rPr>
              <a:t>Team Gryffindor  •  </a:t>
            </a:r>
            <a:r>
              <a:rPr lang="en-IN" sz="1000" dirty="0">
                <a:solidFill>
                  <a:srgbClr val="556677"/>
                </a:solidFill>
              </a:rPr>
              <a:t> </a:t>
            </a:r>
            <a:r>
              <a:rPr lang="en-IN" sz="1000" dirty="0" err="1">
                <a:solidFill>
                  <a:srgbClr val="556677"/>
                </a:solidFill>
              </a:rPr>
              <a:t>SmartSelection</a:t>
            </a:r>
            <a:r>
              <a:rPr lang="en-IN" sz="1000" dirty="0">
                <a:solidFill>
                  <a:srgbClr val="556677"/>
                </a:solidFill>
              </a:rPr>
              <a:t> &amp; Performance Analyser</a:t>
            </a:r>
            <a:endParaRPr sz="1000" b="0" dirty="0">
              <a:solidFill>
                <a:srgbClr val="556677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820095" y="6565392"/>
            <a:ext cx="914400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000" b="0">
                <a:solidFill>
                  <a:srgbClr val="556677"/>
                </a:solidFill>
                <a:latin typeface="Calibri"/>
              </a:rPr>
              <a:t>6 / 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554480"/>
            <a:ext cx="3703320" cy="2377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2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8640" y="1554480"/>
            <a:ext cx="109728" cy="237744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1664208"/>
            <a:ext cx="3337560" cy="328295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b="1" dirty="0">
                <a:solidFill>
                  <a:srgbClr val="0B3D91"/>
                </a:solidFill>
                <a:latin typeface="Calibri"/>
              </a:rPr>
              <a:t>Smart India Hackathon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240280"/>
            <a:ext cx="3337560" cy="235962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 dirty="0">
                <a:solidFill>
                  <a:srgbClr val="F4B400"/>
                </a:solidFill>
                <a:latin typeface="Calibri"/>
              </a:rPr>
              <a:t>Ministry of Education, </a:t>
            </a:r>
            <a:r>
              <a:rPr sz="1200" b="1" dirty="0" err="1">
                <a:solidFill>
                  <a:srgbClr val="F4B400"/>
                </a:solidFill>
                <a:latin typeface="Calibri"/>
              </a:rPr>
              <a:t>GoI</a:t>
            </a:r>
            <a:endParaRPr sz="1200" b="1" dirty="0">
              <a:solidFill>
                <a:srgbClr val="F4B400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77240" y="2560320"/>
            <a:ext cx="3337560" cy="605294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0" dirty="0">
                <a:solidFill>
                  <a:srgbClr val="556677"/>
                </a:solidFill>
                <a:latin typeface="Calibri"/>
              </a:rPr>
              <a:t>36-hour nationwide innovation challenge across AI, healthcare,</a:t>
            </a:r>
          </a:p>
          <a:p>
            <a:pPr algn="l"/>
            <a:r>
              <a:rPr sz="1100" b="0" dirty="0">
                <a:solidFill>
                  <a:srgbClr val="556677"/>
                </a:solidFill>
                <a:latin typeface="Calibri"/>
              </a:rPr>
              <a:t>agriculture, smart cities and cyber security</a:t>
            </a:r>
            <a:r>
              <a:rPr sz="1400" b="0" dirty="0">
                <a:solidFill>
                  <a:srgbClr val="556677"/>
                </a:solidFill>
                <a:latin typeface="Calibri"/>
              </a:rPr>
              <a:t>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474720"/>
            <a:ext cx="630936" cy="292608"/>
          </a:xfrm>
          <a:prstGeom prst="roundRect">
            <a:avLst>
              <a:gd name="adj" fmla="val 50000"/>
            </a:avLst>
          </a:prstGeom>
          <a:solidFill>
            <a:srgbClr val="F5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" y="3474720"/>
            <a:ext cx="630936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>
                <a:solidFill>
                  <a:srgbClr val="0B3D91"/>
                </a:solidFill>
                <a:latin typeface="Calibri"/>
              </a:rPr>
              <a:t>Python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81328" y="3474720"/>
            <a:ext cx="1408176" cy="292608"/>
          </a:xfrm>
          <a:prstGeom prst="roundRect">
            <a:avLst>
              <a:gd name="adj" fmla="val 50000"/>
            </a:avLst>
          </a:prstGeom>
          <a:solidFill>
            <a:srgbClr val="F5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481328" y="3474720"/>
            <a:ext cx="1408176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>
                <a:solidFill>
                  <a:srgbClr val="0B3D91"/>
                </a:solidFill>
                <a:latin typeface="Calibri"/>
              </a:rPr>
              <a:t>Machine Learning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962656" y="3474720"/>
            <a:ext cx="786384" cy="292608"/>
          </a:xfrm>
          <a:prstGeom prst="roundRect">
            <a:avLst>
              <a:gd name="adj" fmla="val 50000"/>
            </a:avLst>
          </a:prstGeom>
          <a:solidFill>
            <a:srgbClr val="F5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962656" y="3474720"/>
            <a:ext cx="786384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>
                <a:solidFill>
                  <a:srgbClr val="0B3D91"/>
                </a:solidFill>
                <a:latin typeface="Calibri"/>
              </a:rPr>
              <a:t>Teamwork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34840" y="1554480"/>
            <a:ext cx="3703320" cy="2377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2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434840" y="1554480"/>
            <a:ext cx="109728" cy="2377440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663440" y="1664208"/>
            <a:ext cx="3337560" cy="328295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b="1" dirty="0">
                <a:solidFill>
                  <a:srgbClr val="0B3D91"/>
                </a:solidFill>
                <a:latin typeface="Calibri"/>
              </a:rPr>
              <a:t>R1 </a:t>
            </a:r>
            <a:r>
              <a:rPr b="1" dirty="0" err="1">
                <a:solidFill>
                  <a:srgbClr val="0B3D91"/>
                </a:solidFill>
                <a:latin typeface="Calibri"/>
              </a:rPr>
              <a:t>CodeFiesta</a:t>
            </a:r>
            <a:endParaRPr b="1" dirty="0">
              <a:solidFill>
                <a:srgbClr val="0B3D91"/>
              </a:solidFill>
              <a:latin typeface="Calibr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663440" y="2240280"/>
            <a:ext cx="3337560" cy="235962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 dirty="0">
                <a:solidFill>
                  <a:srgbClr val="F4B400"/>
                </a:solidFill>
                <a:latin typeface="Calibri"/>
              </a:rPr>
              <a:t>National Level Hackathon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2560320"/>
            <a:ext cx="3337560" cy="38985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0" dirty="0">
                <a:solidFill>
                  <a:srgbClr val="556677"/>
                </a:solidFill>
                <a:latin typeface="Calibri"/>
              </a:rPr>
              <a:t>Cybersecurity, </a:t>
            </a:r>
            <a:r>
              <a:rPr sz="1100" b="0" dirty="0" err="1">
                <a:solidFill>
                  <a:srgbClr val="556677"/>
                </a:solidFill>
                <a:latin typeface="Calibri"/>
              </a:rPr>
              <a:t>blockchain</a:t>
            </a:r>
            <a:r>
              <a:rPr sz="1100" b="0" dirty="0">
                <a:solidFill>
                  <a:srgbClr val="556677"/>
                </a:solidFill>
                <a:latin typeface="Calibri"/>
              </a:rPr>
              <a:t> &amp; open innovation tracks in a</a:t>
            </a:r>
          </a:p>
          <a:p>
            <a:pPr algn="l"/>
            <a:r>
              <a:rPr sz="1100" b="0" dirty="0">
                <a:solidFill>
                  <a:srgbClr val="556677"/>
                </a:solidFill>
                <a:latin typeface="Calibri"/>
              </a:rPr>
              <a:t>36-hour intensive coding marathon.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63440" y="3474720"/>
            <a:ext cx="1252728" cy="292608"/>
          </a:xfrm>
          <a:prstGeom prst="roundRect">
            <a:avLst>
              <a:gd name="adj" fmla="val 50000"/>
            </a:avLst>
          </a:prstGeom>
          <a:solidFill>
            <a:srgbClr val="F5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663440" y="3474720"/>
            <a:ext cx="1252728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>
                <a:solidFill>
                  <a:srgbClr val="1E88E5"/>
                </a:solidFill>
                <a:latin typeface="Calibri"/>
              </a:rPr>
              <a:t>Cyber Security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89320" y="3474720"/>
            <a:ext cx="941832" cy="292608"/>
          </a:xfrm>
          <a:prstGeom prst="roundRect">
            <a:avLst>
              <a:gd name="adj" fmla="val 50000"/>
            </a:avLst>
          </a:prstGeom>
          <a:solidFill>
            <a:srgbClr val="F5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989320" y="3474720"/>
            <a:ext cx="941832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>
                <a:solidFill>
                  <a:srgbClr val="1E88E5"/>
                </a:solidFill>
                <a:latin typeface="Calibri"/>
              </a:rPr>
              <a:t>Blockchain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004304" y="3474720"/>
            <a:ext cx="941832" cy="292608"/>
          </a:xfrm>
          <a:prstGeom prst="roundRect">
            <a:avLst>
              <a:gd name="adj" fmla="val 50000"/>
            </a:avLst>
          </a:prstGeom>
          <a:solidFill>
            <a:srgbClr val="F5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004304" y="3474720"/>
            <a:ext cx="941832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>
                <a:solidFill>
                  <a:srgbClr val="1E88E5"/>
                </a:solidFill>
                <a:latin typeface="Calibri"/>
              </a:rPr>
              <a:t>Full-Stack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321040" y="1554480"/>
            <a:ext cx="3703320" cy="2377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2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321040" y="1554480"/>
            <a:ext cx="109728" cy="237744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549640" y="1664208"/>
            <a:ext cx="3337560" cy="328295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b="1" dirty="0" err="1">
                <a:solidFill>
                  <a:srgbClr val="0B3D91"/>
                </a:solidFill>
                <a:latin typeface="Calibri"/>
              </a:rPr>
              <a:t>Hackadroit</a:t>
            </a:r>
            <a:endParaRPr b="1" dirty="0">
              <a:solidFill>
                <a:srgbClr val="0B3D91"/>
              </a:solidFill>
              <a:latin typeface="Calibri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549640" y="2240280"/>
            <a:ext cx="3337560" cy="235962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 dirty="0">
                <a:solidFill>
                  <a:srgbClr val="F4B400"/>
                </a:solidFill>
                <a:latin typeface="Calibri"/>
              </a:rPr>
              <a:t>IEEE Student Branch • PEC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49640" y="2560320"/>
            <a:ext cx="3337560" cy="38985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0" dirty="0">
                <a:solidFill>
                  <a:srgbClr val="556677"/>
                </a:solidFill>
                <a:latin typeface="Calibri"/>
              </a:rPr>
              <a:t>Flagship 24-hour software hackathon under </a:t>
            </a:r>
            <a:r>
              <a:rPr sz="1100" b="0" dirty="0" err="1">
                <a:solidFill>
                  <a:srgbClr val="556677"/>
                </a:solidFill>
                <a:latin typeface="Calibri"/>
              </a:rPr>
              <a:t>Techadroit</a:t>
            </a:r>
            <a:endParaRPr sz="1100" b="0" dirty="0">
              <a:solidFill>
                <a:srgbClr val="556677"/>
              </a:solidFill>
              <a:latin typeface="Calibri"/>
            </a:endParaRPr>
          </a:p>
          <a:p>
            <a:pPr algn="l"/>
            <a:r>
              <a:rPr sz="1100" b="0" dirty="0">
                <a:solidFill>
                  <a:srgbClr val="556677"/>
                </a:solidFill>
                <a:latin typeface="Calibri"/>
              </a:rPr>
              <a:t>for robotics, software &amp; gaming.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549640" y="3474720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F5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549640" y="3474720"/>
            <a:ext cx="1097280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>
                <a:solidFill>
                  <a:srgbClr val="2E7D32"/>
                </a:solidFill>
                <a:latin typeface="Calibri"/>
              </a:rPr>
              <a:t>Software Dev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720072" y="3474720"/>
            <a:ext cx="786384" cy="292608"/>
          </a:xfrm>
          <a:prstGeom prst="roundRect">
            <a:avLst>
              <a:gd name="adj" fmla="val 50000"/>
            </a:avLst>
          </a:prstGeom>
          <a:solidFill>
            <a:srgbClr val="F5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720072" y="3474720"/>
            <a:ext cx="786384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>
                <a:solidFill>
                  <a:srgbClr val="2E7D32"/>
                </a:solidFill>
                <a:latin typeface="Calibri"/>
              </a:rPr>
              <a:t>Robotics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579608" y="3474720"/>
            <a:ext cx="630936" cy="292608"/>
          </a:xfrm>
          <a:prstGeom prst="roundRect">
            <a:avLst>
              <a:gd name="adj" fmla="val 50000"/>
            </a:avLst>
          </a:prstGeom>
          <a:solidFill>
            <a:srgbClr val="F5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0579608" y="3474720"/>
            <a:ext cx="630936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>
                <a:solidFill>
                  <a:srgbClr val="2E7D32"/>
                </a:solidFill>
                <a:latin typeface="Calibri"/>
              </a:rPr>
              <a:t>Gaming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48640" y="4114800"/>
            <a:ext cx="3703320" cy="2377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2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548640" y="4114800"/>
            <a:ext cx="109728" cy="2377440"/>
          </a:xfrm>
          <a:prstGeom prst="rect">
            <a:avLst/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77240" y="4224528"/>
            <a:ext cx="3337560" cy="328295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b="1" dirty="0" err="1">
                <a:solidFill>
                  <a:srgbClr val="0B3D91"/>
                </a:solidFill>
                <a:latin typeface="Calibri"/>
              </a:rPr>
              <a:t>Argonyx</a:t>
            </a:r>
            <a:r>
              <a:rPr b="1" dirty="0">
                <a:solidFill>
                  <a:srgbClr val="0B3D91"/>
                </a:solidFill>
                <a:latin typeface="Calibri"/>
              </a:rPr>
              <a:t> Hackathon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240" y="4800600"/>
            <a:ext cx="3337560" cy="235962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 dirty="0">
                <a:solidFill>
                  <a:srgbClr val="F4B400"/>
                </a:solidFill>
                <a:latin typeface="Calibri"/>
              </a:rPr>
              <a:t>IEEE • Pitch + Build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7240" y="5120640"/>
            <a:ext cx="3337560" cy="605294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0" dirty="0">
                <a:solidFill>
                  <a:srgbClr val="556677"/>
                </a:solidFill>
                <a:latin typeface="Calibri"/>
              </a:rPr>
              <a:t>Healthcare, sustainability, </a:t>
            </a:r>
            <a:r>
              <a:rPr sz="1200" b="0" dirty="0" err="1">
                <a:solidFill>
                  <a:srgbClr val="556677"/>
                </a:solidFill>
                <a:latin typeface="Calibri"/>
              </a:rPr>
              <a:t>FinTech</a:t>
            </a:r>
            <a:r>
              <a:rPr sz="1200" b="0" dirty="0">
                <a:solidFill>
                  <a:srgbClr val="556677"/>
                </a:solidFill>
                <a:latin typeface="Calibri"/>
              </a:rPr>
              <a:t> &amp; social impact prototypes</a:t>
            </a:r>
          </a:p>
          <a:p>
            <a:pPr algn="l"/>
            <a:r>
              <a:rPr sz="1200" b="0" dirty="0">
                <a:solidFill>
                  <a:srgbClr val="556677"/>
                </a:solidFill>
                <a:latin typeface="Calibri"/>
              </a:rPr>
              <a:t>presented to founders &amp; industry experts.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77240" y="6035040"/>
            <a:ext cx="1019556" cy="292608"/>
          </a:xfrm>
          <a:prstGeom prst="roundRect">
            <a:avLst>
              <a:gd name="adj" fmla="val 50000"/>
            </a:avLst>
          </a:prstGeom>
          <a:solidFill>
            <a:srgbClr val="F5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77240" y="6035040"/>
            <a:ext cx="1019556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>
                <a:solidFill>
                  <a:srgbClr val="6A1B9A"/>
                </a:solidFill>
                <a:latin typeface="Calibri"/>
              </a:rPr>
              <a:t>Product Dev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869948" y="6035040"/>
            <a:ext cx="786384" cy="292608"/>
          </a:xfrm>
          <a:prstGeom prst="roundRect">
            <a:avLst>
              <a:gd name="adj" fmla="val 50000"/>
            </a:avLst>
          </a:prstGeom>
          <a:solidFill>
            <a:srgbClr val="F5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869948" y="6035040"/>
            <a:ext cx="786384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>
                <a:solidFill>
                  <a:srgbClr val="6A1B9A"/>
                </a:solidFill>
                <a:latin typeface="Calibri"/>
              </a:rPr>
              <a:t>Pitching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729484" y="6035040"/>
            <a:ext cx="941832" cy="292608"/>
          </a:xfrm>
          <a:prstGeom prst="roundRect">
            <a:avLst>
              <a:gd name="adj" fmla="val 50000"/>
            </a:avLst>
          </a:prstGeom>
          <a:solidFill>
            <a:srgbClr val="F5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2729484" y="6035040"/>
            <a:ext cx="941832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>
                <a:solidFill>
                  <a:srgbClr val="6A1B9A"/>
                </a:solidFill>
                <a:latin typeface="Calibri"/>
              </a:rPr>
              <a:t>Innovation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434840" y="4114800"/>
            <a:ext cx="3703320" cy="2377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2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4434840" y="4114800"/>
            <a:ext cx="109728" cy="2377440"/>
          </a:xfrm>
          <a:prstGeom prst="rect">
            <a:avLst/>
          </a:prstGeom>
          <a:solidFill>
            <a:srgbClr val="D843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663440" y="4224528"/>
            <a:ext cx="3337560" cy="328295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b="1" dirty="0">
                <a:solidFill>
                  <a:srgbClr val="0B3D91"/>
                </a:solidFill>
                <a:latin typeface="Calibri"/>
              </a:rPr>
              <a:t>FESTX '23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63440" y="4800600"/>
            <a:ext cx="3337560" cy="235962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 dirty="0">
                <a:solidFill>
                  <a:srgbClr val="F4B400"/>
                </a:solidFill>
                <a:latin typeface="Calibri"/>
              </a:rPr>
              <a:t>Sri </a:t>
            </a:r>
            <a:r>
              <a:rPr sz="1200" b="1" dirty="0" err="1">
                <a:solidFill>
                  <a:srgbClr val="F4B400"/>
                </a:solidFill>
                <a:latin typeface="Calibri"/>
              </a:rPr>
              <a:t>Sairam</a:t>
            </a:r>
            <a:r>
              <a:rPr sz="1200" b="1" dirty="0">
                <a:solidFill>
                  <a:srgbClr val="F4B400"/>
                </a:solidFill>
                <a:latin typeface="Calibri"/>
              </a:rPr>
              <a:t> Engineering College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663440" y="5120640"/>
            <a:ext cx="3337560" cy="559127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0" dirty="0">
                <a:solidFill>
                  <a:srgbClr val="556677"/>
                </a:solidFill>
                <a:latin typeface="Calibri"/>
              </a:rPr>
              <a:t>National-level technical symposium with hackathon, coding,</a:t>
            </a:r>
          </a:p>
          <a:p>
            <a:pPr algn="l"/>
            <a:r>
              <a:rPr sz="1100" b="0" dirty="0">
                <a:solidFill>
                  <a:srgbClr val="556677"/>
                </a:solidFill>
                <a:latin typeface="Calibri"/>
              </a:rPr>
              <a:t>debugging, project expo and startup pitch.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663440" y="6035040"/>
            <a:ext cx="630936" cy="292608"/>
          </a:xfrm>
          <a:prstGeom prst="roundRect">
            <a:avLst>
              <a:gd name="adj" fmla="val 50000"/>
            </a:avLst>
          </a:prstGeom>
          <a:solidFill>
            <a:srgbClr val="F5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4663440" y="6035040"/>
            <a:ext cx="630936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>
                <a:solidFill>
                  <a:srgbClr val="D84315"/>
                </a:solidFill>
                <a:latin typeface="Calibri"/>
              </a:rPr>
              <a:t>Coding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367528" y="6035040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F5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367528" y="6035040"/>
            <a:ext cx="1097280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>
                <a:solidFill>
                  <a:srgbClr val="D84315"/>
                </a:solidFill>
                <a:latin typeface="Calibri"/>
              </a:rPr>
              <a:t>Project Expo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537960" y="6035040"/>
            <a:ext cx="1175004" cy="292608"/>
          </a:xfrm>
          <a:prstGeom prst="roundRect">
            <a:avLst>
              <a:gd name="adj" fmla="val 50000"/>
            </a:avLst>
          </a:prstGeom>
          <a:solidFill>
            <a:srgbClr val="F5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537960" y="6035040"/>
            <a:ext cx="1175004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>
                <a:solidFill>
                  <a:srgbClr val="D84315"/>
                </a:solidFill>
                <a:latin typeface="Calibri"/>
              </a:rPr>
              <a:t>Startup Pitch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321040" y="4114800"/>
            <a:ext cx="3703320" cy="2377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2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8321040" y="4114800"/>
            <a:ext cx="109728" cy="2377440"/>
          </a:xfrm>
          <a:prstGeom prst="rect">
            <a:avLst/>
          </a:prstGeom>
          <a:solidFill>
            <a:srgbClr val="0069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8549640" y="4224528"/>
            <a:ext cx="3337560" cy="605294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b="1" dirty="0">
                <a:solidFill>
                  <a:srgbClr val="0B3D91"/>
                </a:solidFill>
                <a:latin typeface="Calibri"/>
              </a:rPr>
              <a:t>Coding Contests &amp;</a:t>
            </a:r>
          </a:p>
          <a:p>
            <a:pPr algn="l"/>
            <a:r>
              <a:rPr b="1" dirty="0">
                <a:solidFill>
                  <a:srgbClr val="0B3D91"/>
                </a:solidFill>
                <a:latin typeface="Calibri"/>
              </a:rPr>
              <a:t>Paper Presentations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549640" y="4829822"/>
            <a:ext cx="3337560" cy="235962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1" dirty="0">
                <a:solidFill>
                  <a:srgbClr val="F4B400"/>
                </a:solidFill>
                <a:latin typeface="Calibri"/>
              </a:rPr>
              <a:t>Symposium Track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549640" y="5120640"/>
            <a:ext cx="3337560" cy="42062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0" dirty="0">
                <a:solidFill>
                  <a:srgbClr val="556677"/>
                </a:solidFill>
                <a:latin typeface="Calibri"/>
              </a:rPr>
              <a:t>DSA, algorithmic challenges, research papers and</a:t>
            </a:r>
          </a:p>
          <a:p>
            <a:pPr algn="l"/>
            <a:r>
              <a:rPr sz="1200" b="0" dirty="0">
                <a:solidFill>
                  <a:srgbClr val="556677"/>
                </a:solidFill>
                <a:latin typeface="Calibri"/>
              </a:rPr>
              <a:t>technical poster presentations.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8549640" y="6035040"/>
            <a:ext cx="397764" cy="292608"/>
          </a:xfrm>
          <a:prstGeom prst="roundRect">
            <a:avLst>
              <a:gd name="adj" fmla="val 50000"/>
            </a:avLst>
          </a:prstGeom>
          <a:solidFill>
            <a:srgbClr val="F5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8549640" y="6035040"/>
            <a:ext cx="397764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>
                <a:solidFill>
                  <a:srgbClr val="00697B"/>
                </a:solidFill>
                <a:latin typeface="Calibri"/>
              </a:rPr>
              <a:t>DSA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9020556" y="6035040"/>
            <a:ext cx="786384" cy="292608"/>
          </a:xfrm>
          <a:prstGeom prst="roundRect">
            <a:avLst>
              <a:gd name="adj" fmla="val 50000"/>
            </a:avLst>
          </a:prstGeom>
          <a:solidFill>
            <a:srgbClr val="F5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9020556" y="6035040"/>
            <a:ext cx="786384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>
                <a:solidFill>
                  <a:srgbClr val="00697B"/>
                </a:solidFill>
                <a:latin typeface="Calibri"/>
              </a:rPr>
              <a:t>Research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9880092" y="6035040"/>
            <a:ext cx="1175004" cy="292608"/>
          </a:xfrm>
          <a:prstGeom prst="roundRect">
            <a:avLst>
              <a:gd name="adj" fmla="val 50000"/>
            </a:avLst>
          </a:prstGeom>
          <a:solidFill>
            <a:srgbClr val="F5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9880092" y="6035040"/>
            <a:ext cx="1175004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900" b="1">
                <a:solidFill>
                  <a:srgbClr val="00697B"/>
                </a:solidFill>
                <a:latin typeface="Calibri"/>
              </a:rPr>
              <a:t>Communication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164592" cy="6693408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9601200" cy="5943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3000" b="1">
                <a:solidFill>
                  <a:srgbClr val="0B3D91"/>
                </a:solidFill>
                <a:latin typeface="Calibri"/>
              </a:rPr>
              <a:t>Future Scope &amp; Conclusion</a:t>
            </a:r>
          </a:p>
        </p:txBody>
      </p:sp>
      <p:sp>
        <p:nvSpPr>
          <p:cNvPr id="5" name="Rectangle 4"/>
          <p:cNvSpPr/>
          <p:nvPr/>
        </p:nvSpPr>
        <p:spPr>
          <a:xfrm flipV="1">
            <a:off x="164592" y="877824"/>
            <a:ext cx="11569903" cy="54863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024128"/>
            <a:ext cx="10058400" cy="328295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b="0" dirty="0">
                <a:solidFill>
                  <a:srgbClr val="556677"/>
                </a:solidFill>
                <a:latin typeface="Calibri"/>
              </a:rPr>
              <a:t>Where this system is heading — and the impact it leaves.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5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609104"/>
            <a:ext cx="7315200" cy="205184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000" b="0" dirty="0">
                <a:solidFill>
                  <a:srgbClr val="556677"/>
                </a:solidFill>
                <a:latin typeface="Calibri"/>
              </a:rPr>
              <a:t>Team Gryffindor  •  </a:t>
            </a:r>
            <a:r>
              <a:rPr lang="en-US" sz="1000" b="0" dirty="0" err="1">
                <a:solidFill>
                  <a:srgbClr val="556677"/>
                </a:solidFill>
                <a:latin typeface="Calibri"/>
              </a:rPr>
              <a:t>SmartSelection</a:t>
            </a:r>
            <a:r>
              <a:rPr lang="en-US" sz="1000" b="0" dirty="0">
                <a:solidFill>
                  <a:srgbClr val="556677"/>
                </a:solidFill>
                <a:latin typeface="Calibri"/>
              </a:rPr>
              <a:t> &amp; Performance </a:t>
            </a:r>
            <a:r>
              <a:rPr lang="en-US" sz="1000" b="0" dirty="0" err="1">
                <a:solidFill>
                  <a:srgbClr val="556677"/>
                </a:solidFill>
                <a:latin typeface="Calibri"/>
              </a:rPr>
              <a:t>Analyser</a:t>
            </a:r>
            <a:endParaRPr sz="1000" b="0" dirty="0">
              <a:solidFill>
                <a:srgbClr val="556677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820095" y="6565392"/>
            <a:ext cx="914400" cy="29260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r"/>
            <a:r>
              <a:rPr sz="1000" b="0">
                <a:solidFill>
                  <a:srgbClr val="556677"/>
                </a:solidFill>
                <a:latin typeface="Calibri"/>
              </a:rPr>
              <a:t>7 /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463040"/>
            <a:ext cx="6400800" cy="297517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600" b="1" dirty="0">
                <a:solidFill>
                  <a:srgbClr val="F4B400"/>
                </a:solidFill>
                <a:latin typeface="Calibri"/>
              </a:rPr>
              <a:t>FUTURE ENHANCEMENTS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874519"/>
            <a:ext cx="3246120" cy="1280160"/>
          </a:xfrm>
          <a:prstGeom prst="roundRect">
            <a:avLst>
              <a:gd name="adj" fmla="val 6000"/>
            </a:avLst>
          </a:prstGeom>
          <a:solidFill>
            <a:srgbClr val="F5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731520" y="2103119"/>
            <a:ext cx="502920" cy="502920"/>
          </a:xfrm>
          <a:prstGeom prst="ellipse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2103119"/>
            <a:ext cx="50292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039111"/>
            <a:ext cx="2331720" cy="2667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400" b="1" dirty="0">
                <a:solidFill>
                  <a:srgbClr val="0B3D91"/>
                </a:solidFill>
                <a:latin typeface="Calibri"/>
              </a:rPr>
              <a:t>AI Recommendation Engine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423159"/>
            <a:ext cx="2331720" cy="42062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0" dirty="0">
                <a:solidFill>
                  <a:srgbClr val="556677"/>
                </a:solidFill>
                <a:latin typeface="Calibri"/>
              </a:rPr>
              <a:t>ML models that predict the</a:t>
            </a:r>
          </a:p>
          <a:p>
            <a:pPr algn="l"/>
            <a:r>
              <a:rPr sz="1200" b="0" dirty="0">
                <a:solidFill>
                  <a:srgbClr val="556677"/>
                </a:solidFill>
                <a:latin typeface="Calibri"/>
              </a:rPr>
              <a:t>best-fit students automatically.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31920" y="1874519"/>
            <a:ext cx="3246120" cy="1280160"/>
          </a:xfrm>
          <a:prstGeom prst="roundRect">
            <a:avLst>
              <a:gd name="adj" fmla="val 6000"/>
            </a:avLst>
          </a:prstGeom>
          <a:solidFill>
            <a:srgbClr val="F5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114800" y="2103119"/>
            <a:ext cx="502920" cy="502920"/>
          </a:xfrm>
          <a:prstGeom prst="ellipse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14800" y="2103119"/>
            <a:ext cx="50292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2039111"/>
            <a:ext cx="2331720" cy="2667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400" b="1" dirty="0">
                <a:solidFill>
                  <a:srgbClr val="0B3D91"/>
                </a:solidFill>
                <a:latin typeface="Calibri"/>
              </a:rPr>
              <a:t>Voice-Based Search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2423159"/>
            <a:ext cx="2331720" cy="42062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0" dirty="0">
                <a:solidFill>
                  <a:srgbClr val="556677"/>
                </a:solidFill>
                <a:latin typeface="Calibri"/>
              </a:rPr>
              <a:t>Hands-free queries via</a:t>
            </a:r>
          </a:p>
          <a:p>
            <a:pPr algn="l"/>
            <a:r>
              <a:rPr sz="1200" b="0" dirty="0">
                <a:solidFill>
                  <a:srgbClr val="556677"/>
                </a:solidFill>
                <a:latin typeface="Calibri"/>
              </a:rPr>
              <a:t>speech recognition.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291839"/>
            <a:ext cx="3246120" cy="1280160"/>
          </a:xfrm>
          <a:prstGeom prst="roundRect">
            <a:avLst>
              <a:gd name="adj" fmla="val 6000"/>
            </a:avLst>
          </a:prstGeom>
          <a:solidFill>
            <a:srgbClr val="F5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731520" y="3520439"/>
            <a:ext cx="502920" cy="502920"/>
          </a:xfrm>
          <a:prstGeom prst="ellipse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3520439"/>
            <a:ext cx="50292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3456431"/>
            <a:ext cx="2331720" cy="2667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400" b="1" dirty="0">
                <a:solidFill>
                  <a:srgbClr val="0B3D91"/>
                </a:solidFill>
                <a:latin typeface="Calibri"/>
              </a:rPr>
              <a:t>Web &amp; Mobile Dashboard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3840479"/>
            <a:ext cx="2331720" cy="42062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0" dirty="0">
                <a:solidFill>
                  <a:srgbClr val="556677"/>
                </a:solidFill>
                <a:latin typeface="Calibri"/>
              </a:rPr>
              <a:t>Anywhere access for teachers,</a:t>
            </a:r>
          </a:p>
          <a:p>
            <a:pPr algn="l"/>
            <a:r>
              <a:rPr sz="1200" b="0" dirty="0">
                <a:solidFill>
                  <a:srgbClr val="556677"/>
                </a:solidFill>
                <a:latin typeface="Calibri"/>
              </a:rPr>
              <a:t>HODs and placement officers.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931920" y="3291839"/>
            <a:ext cx="3246120" cy="1280160"/>
          </a:xfrm>
          <a:prstGeom prst="roundRect">
            <a:avLst>
              <a:gd name="adj" fmla="val 6000"/>
            </a:avLst>
          </a:prstGeom>
          <a:solidFill>
            <a:srgbClr val="F5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4114800" y="3520439"/>
            <a:ext cx="502920" cy="502920"/>
          </a:xfrm>
          <a:prstGeom prst="ellipse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114800" y="3520439"/>
            <a:ext cx="50292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0" y="3456431"/>
            <a:ext cx="2331720" cy="2667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400" b="1" dirty="0">
                <a:solidFill>
                  <a:srgbClr val="0B3D91"/>
                </a:solidFill>
                <a:latin typeface="Calibri"/>
              </a:rPr>
              <a:t>Placement Prediction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80" y="3840479"/>
            <a:ext cx="2331720" cy="42062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0" dirty="0">
                <a:solidFill>
                  <a:srgbClr val="556677"/>
                </a:solidFill>
                <a:latin typeface="Calibri"/>
              </a:rPr>
              <a:t>Predict placement readiness</a:t>
            </a:r>
          </a:p>
          <a:p>
            <a:pPr algn="l"/>
            <a:r>
              <a:rPr sz="1200" b="0" dirty="0">
                <a:solidFill>
                  <a:srgbClr val="556677"/>
                </a:solidFill>
                <a:latin typeface="Calibri"/>
              </a:rPr>
              <a:t>from historical data.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4709159"/>
            <a:ext cx="3246120" cy="1280160"/>
          </a:xfrm>
          <a:prstGeom prst="roundRect">
            <a:avLst>
              <a:gd name="adj" fmla="val 6000"/>
            </a:avLst>
          </a:prstGeom>
          <a:solidFill>
            <a:srgbClr val="F5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731520" y="4937759"/>
            <a:ext cx="502920" cy="502920"/>
          </a:xfrm>
          <a:prstGeom prst="ellipse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31520" y="4937759"/>
            <a:ext cx="50292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71600" y="4873751"/>
            <a:ext cx="2331720" cy="2667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400" b="1" dirty="0">
                <a:solidFill>
                  <a:srgbClr val="0B3D91"/>
                </a:solidFill>
                <a:latin typeface="Calibri"/>
              </a:rPr>
              <a:t>Cloud Database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0" y="5257799"/>
            <a:ext cx="2331720" cy="42062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0" dirty="0">
                <a:solidFill>
                  <a:srgbClr val="556677"/>
                </a:solidFill>
                <a:latin typeface="Calibri"/>
              </a:rPr>
              <a:t>Scalable, secure storage</a:t>
            </a:r>
          </a:p>
          <a:p>
            <a:pPr algn="l"/>
            <a:r>
              <a:rPr sz="1200" b="0" dirty="0">
                <a:solidFill>
                  <a:srgbClr val="556677"/>
                </a:solidFill>
                <a:latin typeface="Calibri"/>
              </a:rPr>
              <a:t>for institution-wide deployment.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931920" y="4709159"/>
            <a:ext cx="3246120" cy="1280160"/>
          </a:xfrm>
          <a:prstGeom prst="roundRect">
            <a:avLst>
              <a:gd name="adj" fmla="val 6000"/>
            </a:avLst>
          </a:prstGeom>
          <a:solidFill>
            <a:srgbClr val="F5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4114800" y="4937759"/>
            <a:ext cx="502920" cy="502920"/>
          </a:xfrm>
          <a:prstGeom prst="ellipse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114800" y="4937759"/>
            <a:ext cx="50292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54880" y="4873751"/>
            <a:ext cx="2331720" cy="2667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400" b="1" dirty="0" err="1">
                <a:solidFill>
                  <a:srgbClr val="0B3D91"/>
                </a:solidFill>
                <a:latin typeface="Calibri"/>
              </a:rPr>
              <a:t>Chatbot</a:t>
            </a:r>
            <a:r>
              <a:rPr sz="1400" b="1" dirty="0">
                <a:solidFill>
                  <a:srgbClr val="0B3D91"/>
                </a:solidFill>
                <a:latin typeface="Calibri"/>
              </a:rPr>
              <a:t> Interface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54880" y="5257799"/>
            <a:ext cx="2331720" cy="42062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00" b="0" dirty="0">
                <a:solidFill>
                  <a:srgbClr val="556677"/>
                </a:solidFill>
                <a:latin typeface="Calibri"/>
              </a:rPr>
              <a:t>Conversational assistant</a:t>
            </a:r>
          </a:p>
          <a:p>
            <a:pPr algn="l"/>
            <a:r>
              <a:rPr sz="1200" b="0" dirty="0">
                <a:solidFill>
                  <a:srgbClr val="556677"/>
                </a:solidFill>
                <a:latin typeface="Calibri"/>
              </a:rPr>
              <a:t>for faster interaction.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178040" y="1463040"/>
            <a:ext cx="4526280" cy="4846320"/>
          </a:xfrm>
          <a:prstGeom prst="roundRect">
            <a:avLst>
              <a:gd name="adj" fmla="val 5000"/>
            </a:avLst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7178040" y="1463040"/>
            <a:ext cx="4526280" cy="365760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360920" y="1910581"/>
            <a:ext cx="3886200" cy="297517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600" b="1" dirty="0">
                <a:solidFill>
                  <a:srgbClr val="F4B400"/>
                </a:solidFill>
                <a:latin typeface="Calibri"/>
              </a:rPr>
              <a:t>CONCLUSION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98080" y="2331720"/>
            <a:ext cx="3886200" cy="7315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Right Student. Right Opportunity.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98080" y="3154680"/>
            <a:ext cx="3886200" cy="199028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400" b="0" dirty="0">
                <a:solidFill>
                  <a:srgbClr val="E3ECFB"/>
                </a:solidFill>
                <a:latin typeface="Calibri"/>
              </a:rPr>
              <a:t>Our Student Recommendation &amp; Selection</a:t>
            </a:r>
          </a:p>
          <a:p>
            <a:pPr algn="l"/>
            <a:r>
              <a:rPr sz="1400" b="0" dirty="0">
                <a:solidFill>
                  <a:srgbClr val="E3ECFB"/>
                </a:solidFill>
                <a:latin typeface="Calibri"/>
              </a:rPr>
              <a:t>System turns scattered student records into</a:t>
            </a:r>
          </a:p>
          <a:p>
            <a:pPr algn="l"/>
            <a:r>
              <a:rPr sz="1400" b="0" dirty="0">
                <a:solidFill>
                  <a:srgbClr val="E3ECFB"/>
                </a:solidFill>
                <a:latin typeface="Calibri"/>
              </a:rPr>
              <a:t>actionable insights.</a:t>
            </a:r>
          </a:p>
          <a:p>
            <a:pPr algn="l"/>
            <a:endParaRPr sz="1400" b="0" dirty="0">
              <a:solidFill>
                <a:srgbClr val="E3ECFB"/>
              </a:solidFill>
              <a:latin typeface="Calibri"/>
            </a:endParaRPr>
          </a:p>
          <a:p>
            <a:pPr algn="l"/>
            <a:r>
              <a:rPr sz="1400" b="0" dirty="0">
                <a:solidFill>
                  <a:srgbClr val="E3ECFB"/>
                </a:solidFill>
                <a:latin typeface="Calibri"/>
              </a:rPr>
              <a:t>By blending performance analytics with</a:t>
            </a:r>
          </a:p>
          <a:p>
            <a:pPr algn="l"/>
            <a:r>
              <a:rPr sz="1400" b="0" dirty="0">
                <a:solidFill>
                  <a:srgbClr val="E3ECFB"/>
                </a:solidFill>
                <a:latin typeface="Calibri"/>
              </a:rPr>
              <a:t>intelligent keyword search, we help institutions</a:t>
            </a:r>
          </a:p>
          <a:p>
            <a:pPr algn="l"/>
            <a:r>
              <a:rPr sz="1400" b="0" dirty="0">
                <a:solidFill>
                  <a:srgbClr val="E3ECFB"/>
                </a:solidFill>
                <a:latin typeface="Calibri"/>
              </a:rPr>
              <a:t>save time, reduce bias, and make data-driven</a:t>
            </a:r>
          </a:p>
          <a:p>
            <a:pPr algn="l"/>
            <a:r>
              <a:rPr sz="1400" b="0" dirty="0">
                <a:solidFill>
                  <a:srgbClr val="E3ECFB"/>
                </a:solidFill>
                <a:latin typeface="Calibri"/>
              </a:rPr>
              <a:t>decisions for every event, scholarship, and</a:t>
            </a:r>
          </a:p>
          <a:p>
            <a:pPr algn="l"/>
            <a:r>
              <a:rPr sz="1400" b="0" dirty="0">
                <a:solidFill>
                  <a:srgbClr val="E3ECFB"/>
                </a:solidFill>
                <a:latin typeface="Calibri"/>
              </a:rPr>
              <a:t>placement opportunity.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178040" y="5349240"/>
            <a:ext cx="4526280" cy="960120"/>
          </a:xfrm>
          <a:prstGeom prst="rect">
            <a:avLst/>
          </a:prstGeom>
          <a:solidFill>
            <a:srgbClr val="0F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178040" y="5349240"/>
            <a:ext cx="452628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78040" y="5924530"/>
            <a:ext cx="4526280" cy="2667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1" dirty="0">
                <a:solidFill>
                  <a:srgbClr val="F4B400"/>
                </a:solidFill>
                <a:latin typeface="Calibri"/>
              </a:rPr>
              <a:t>— Team Gryffindor 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816</Words>
  <Application>Microsoft Office PowerPoint</Application>
  <PresentationFormat>Widescreen</PresentationFormat>
  <Paragraphs>208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LENOVO</dc:creator>
  <cp:keywords/>
  <dc:description>generated using python-pptx</dc:description>
  <cp:lastModifiedBy>Mubarak S</cp:lastModifiedBy>
  <cp:revision>7</cp:revision>
  <dcterms:created xsi:type="dcterms:W3CDTF">2013-01-27T09:14:16Z</dcterms:created>
  <dcterms:modified xsi:type="dcterms:W3CDTF">2026-07-03T07:03:20Z</dcterms:modified>
  <cp:category/>
</cp:coreProperties>
</file>